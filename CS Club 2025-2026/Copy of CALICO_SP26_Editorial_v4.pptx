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74" r:id="rId23"/>
    <p:sldId id="275" r:id="rId24"/>
    <p:sldId id="258" r:id="rId7"/>
    <p:sldId id="259" r:id="rId8"/>
    <p:sldId id="260" r:id="rId9"/>
    <p:sldId id="261" r:id="rId10"/>
    <p:sldId id="262" r:id="rId11"/>
    <p:sldId id="263" r:id="rId12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6" r:id="rId13"/>
    <p:sldId id="272" r:id="rId21"/>
    <p:sldId id="277" r:id="rId25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2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834a1243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d834a1243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834a1243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834a12438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834a12438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834a12438_1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834a12438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d834a12438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834a12438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834a12438_1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d834a12438_1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d834a12438_1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14800" y="-182880"/>
            <a:ext cx="502920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1B22"/>
              </a:buClr>
              <a:buSzPts val="28000"/>
              <a:buFont typeface="Calibri"/>
              <a:buNone/>
            </a:pPr>
            <a:r>
              <a:rPr b="1" i="0" lang="en-US" sz="28000" u="none" cap="none" strike="noStrike">
                <a:solidFill>
                  <a:srgbClr val="161B22"/>
                </a:solidFill>
                <a:latin typeface="Calibri"/>
                <a:ea typeface="Calibri"/>
                <a:cs typeface="Calibri"/>
                <a:sym typeface="Calibri"/>
              </a:rPr>
              <a:t>'26</a:t>
            </a:r>
            <a:endParaRPr b="0" i="0" sz="2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5486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CALICO Spring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132588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'26 Editorial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2633472"/>
            <a:ext cx="310896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11480" y="2798064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CS Club  ·  Northern Highlands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1480" y="3145536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Room 133  ·  April 20, 2026  ·  2:45 PM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11480" y="37490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sz="1150" b="1">
                <a:solidFill>
                  <a:srgbClr val="00D4AA"/>
                </a:solidFill>
                <a:latin typeface="Calibri"/>
              </a:rPr>
              <a:t>8 Problems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sz="1150" b="1">
                <a:solidFill>
                  <a:srgbClr val="00D4AA"/>
                </a:solidFill>
                <a:latin typeface="Calibri"/>
              </a:rPr>
              <a:t>Covered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0"/>
            <a:ext cx="64008" cy="56692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28600" y="0"/>
            <a:ext cx="8686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Contest Overview  ·  What We're Covering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82880" y="49377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30352" y="49377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304288" y="49377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986784" y="49377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0" y="49377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Key Idea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182880" y="69494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182880" y="71323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30352" y="71323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Piezoelectric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304288" y="71323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986784" y="77724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71323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O(1) formula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82880" y="104241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30352" y="104241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Nah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2304288" y="104241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986784" y="110642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29200" y="104241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82880" y="1371600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0352" y="137160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304288" y="137160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986784" y="1435608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29200" y="137160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Two-pointer greedy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82880" y="1700784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30352" y="170078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Laser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304288" y="170078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1+3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986784" y="1764792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029200" y="170078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Hash map / CRT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82880" y="2029968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" y="202996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Grid 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304288" y="202996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2+2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986784" y="2093976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029200" y="202996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Median / Slope Trick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82880" y="235915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0352" y="235915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Shadows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304288" y="235915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986784" y="242316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029200" y="235915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Max &amp; min 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82880" y="2706624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82880" y="268833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30352" y="268833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304288" y="268833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986784" y="275234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0" y="268833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(r+2c) % 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82880" y="3035808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82880" y="3017520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30352" y="301752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304288" y="3017520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986784" y="3081528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0" y="301752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BFS dual-queue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82880" y="3364992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82880" y="3346704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0352" y="334670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304288" y="334670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986784" y="3410712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✓ 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0" y="3346704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Fraction simulation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82880" y="3694176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82880" y="3675888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30352" y="367588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304288" y="3675888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986784" y="3739896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029200" y="3675888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Substream construction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82880" y="4023360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182880" y="4005072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30352" y="400507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304288" y="4005072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986784" y="4069080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29200" y="4005072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Binary search + coord rotation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82880" y="4352544"/>
            <a:ext cx="877824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82880" y="4334256"/>
            <a:ext cx="310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30352" y="433425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304288" y="4334256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Rank 3+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986784" y="4398264"/>
            <a:ext cx="9326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✗ Unsolved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29200" y="433425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Log transform + weighted median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" y="18288"/>
            <a:ext cx="9107424" cy="548640"/>
          </a:xfrm>
          <a:prstGeom prst="rect">
            <a:avLst/>
          </a:prstGeom>
          <a:solidFill>
            <a:srgbClr val="161B22"/>
          </a:solidFill>
          <a:ln w="1016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" y="18288"/>
            <a:ext cx="640080" cy="548640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D111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E6EDF3"/>
                </a:solidFill>
                <a:latin typeface="Calibri"/>
              </a:rPr>
              <a:t>Laser  — 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D4AA"/>
                </a:solidFill>
                <a:latin typeface="Calibri"/>
              </a:rPr>
              <a:t>Rank 1+3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94944"/>
            <a:ext cx="36576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10" b="0" i="0">
                <a:solidFill>
                  <a:srgbClr val="C9D1D9"/>
                </a:solidFill>
                <a:latin typeface="Calibri"/>
              </a:rPr>
              <a:t>Start at asteroid 0 on an N×M torus.</a:t>
            </a:r>
          </a:p>
          <a:p>
            <a:pPr>
              <a:spcAft>
                <a:spcPts val="0"/>
              </a:spcAft>
            </a:pPr>
            <a:r>
              <a:rPr sz="1210" b="0" i="0">
                <a:solidFill>
                  <a:srgbClr val="C9D1D9"/>
                </a:solidFill>
                <a:latin typeface="Calibri"/>
              </a:rPr>
              <a:t>After t steps the laser is at</a:t>
            </a:r>
          </a:p>
          <a:p>
            <a:pPr>
              <a:spcAft>
                <a:spcPts val="0"/>
              </a:spcAft>
            </a:pPr>
            <a:r>
              <a:rPr sz="1210" b="0" i="0">
                <a:solidFill>
                  <a:srgbClr val="C9D1D9"/>
                </a:solidFill>
                <a:latin typeface="Calibri"/>
              </a:rPr>
              <a:t>(x0 + tQ mod N,  y0 + tP mod M).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627632"/>
            <a:ext cx="3657600" cy="219456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50800"/>
          <a:lstStyle/>
          <a:p>
            <a:pPr algn="ctr"/>
            <a:r>
              <a:rPr sz="850" b="1">
                <a:solidFill>
                  <a:srgbClr val="0D1117"/>
                </a:solidFill>
                <a:latin typeface="Calibri"/>
              </a:rPr>
              <a:t>CONGRUENCE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847088"/>
            <a:ext cx="3657600" cy="987552"/>
          </a:xfrm>
          <a:prstGeom prst="rect">
            <a:avLst/>
          </a:prstGeom>
          <a:solidFill>
            <a:srgbClr val="052E24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Aft>
                <a:spcPts val="0"/>
              </a:spcAft>
            </a:pPr>
            <a:r>
              <a:rPr sz="1120">
                <a:solidFill>
                  <a:srgbClr val="C9D1D9"/>
                </a:solidFill>
                <a:latin typeface="Calibri"/>
              </a:rPr>
              <a:t>For asteroid i, let  dx = (Xi - x0) mod N</a:t>
            </a:r>
          </a:p>
          <a:p>
            <a:pPr>
              <a:spcAft>
                <a:spcPts val="0"/>
              </a:spcAft>
            </a:pPr>
            <a:r>
              <a:rPr sz="1120">
                <a:solidFill>
                  <a:srgbClr val="C9D1D9"/>
                </a:solidFill>
                <a:latin typeface="Calibri"/>
              </a:rPr>
              <a:t>                     dy = (Yi - y0) mod M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20">
                <a:solidFill>
                  <a:srgbClr val="C9D1D9"/>
                </a:solidFill>
                <a:latin typeface="Calibri"/>
              </a:rPr>
              <a:t>Solve  tQ ≡ dx (mod N)  and  tP ≡ dy (mod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944368"/>
            <a:ext cx="3657600" cy="219456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50800"/>
          <a:lstStyle/>
          <a:p>
            <a:pPr algn="ctr"/>
            <a:r>
              <a:rPr sz="850" b="1">
                <a:solidFill>
                  <a:srgbClr val="0D1117"/>
                </a:solidFill>
                <a:latin typeface="Calibri"/>
              </a:rPr>
              <a:t>KEY INSIGHT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163824"/>
            <a:ext cx="3657600" cy="1188720"/>
          </a:xfrm>
          <a:prstGeom prst="rect">
            <a:avLst/>
          </a:prstGeom>
          <a:solidFill>
            <a:srgbClr val="052E24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1. Each congruence is possible iff gcd(step, size) divides the offset.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2. Reduce them to  t ≡ tx (mod Nx)  and  t ≡ ty (mod My).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3. Merge the two times with CRT.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4. Smallest positive merged time = first hit.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   If t = 0, use the next period instead.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4480560"/>
            <a:ext cx="3657600" cy="256032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8B949E"/>
                </a:solidFill>
                <a:latin typeface="Calibri"/>
              </a:rPr>
              <a:t>O  (K · log max(N, M))  —  gcd + inverse + CRT per asteroid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676656"/>
            <a:ext cx="4754880" cy="431596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676656"/>
            <a:ext cx="822960" cy="237744"/>
          </a:xfrm>
          <a:prstGeom prst="rect">
            <a:avLst/>
          </a:prstGeom>
          <a:solidFill>
            <a:srgbClr val="30363D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00D4AA"/>
                </a:solidFill>
                <a:latin typeface="Calibri"/>
              </a:rPr>
              <a:t>Java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914400"/>
            <a:ext cx="4754880" cy="9144"/>
          </a:xfrm>
          <a:prstGeom prst="rect">
            <a:avLst/>
          </a:prstGeom>
          <a:solidFill>
            <a:srgbClr val="30363D"/>
          </a:solidFill>
          <a:ln w="127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969264"/>
            <a:ext cx="4462272" cy="3913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>
                <a:solidFill>
                  <a:srgbClr val="C9D1D9"/>
                </a:solidFill>
                <a:latin typeface="Consolas"/>
              </a:rPr>
              <a:t>static long mod(long a,long m){a%=m;return a&lt;0?a+m:a;}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static long gcd(long a,long b){while(b!=0){long t=a%b;a=b;b=t;}return a;}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static long[] egcd(long a,long b){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if(b==0) return new long[]{a,1,0};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long[] r=egcd(b,a%b);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return new long[]{r[0],r[2],r[1]-a/b*r[2]};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static long inv(long a,long m){ return mod(egcd(a,m)[1],m); 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static long[] crt(long a,long n,long b,long m){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long g=gcd(n,m);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if((b-a)%g!=0) return null;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long n2=n/g, m2=m/g;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long k=mod(((b-a)/g)*inv(n2%m2,m2), m2);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long l=n/g*m;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return new long[]{mod(a+n*k,l), l};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static int solve(int K,int N,int M,int P,int Q,int[][] ast){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long x0=ast[0][0], y0=ast[0][1], bestT=Long.MAX_VALUE;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int best=0;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for(int i=0;i&lt;K;i++){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 dx=mod(ast[i][0]-x0,N), dy=mod(ast[i][1]-y0,M);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 gx=gcd(Q,N), gy=gcd(P,M);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if(dx%gx!=0 || dy%gy!=0) continue;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 Nx=N/gx, My=M/gy;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 tx=mod((dx/gx)*inv(Q/gx,Nx), Nx);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 ty=mod((dy/gy)*inv(P/gy,My), My);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long[] r=crt(tx,Nx,ty,My);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if(r==null) continue;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 t=(r[0]==0? r[1] : r[0]);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if(t&lt;bestT){ bestT=t; best=i; 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return best;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" y="18288"/>
            <a:ext cx="9107424" cy="548640"/>
          </a:xfrm>
          <a:prstGeom prst="rect">
            <a:avLst/>
          </a:prstGeom>
          <a:solidFill>
            <a:srgbClr val="161B22"/>
          </a:solidFill>
          <a:ln w="10160">
            <a:solidFill>
              <a:srgbClr val="161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" y="18288"/>
            <a:ext cx="640080" cy="548640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>
                <a:solidFill>
                  <a:srgbClr val="0D1117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3152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E6EDF3"/>
                </a:solidFill>
                <a:latin typeface="Calibri"/>
              </a:rPr>
              <a:t>Grid Fill  — 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0D4AA"/>
                </a:solidFill>
                <a:latin typeface="Calibri"/>
              </a:rPr>
              <a:t>Rank 2+2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694944"/>
            <a:ext cx="36576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10" b="0" i="0">
                <a:solidFill>
                  <a:srgbClr val="C9D1D9"/>
                </a:solidFill>
                <a:latin typeface="Calibri"/>
              </a:rPr>
              <a:t>The top row is fixed, so only this matters:</a:t>
            </a:r>
          </a:p>
          <a:p>
            <a:pPr>
              <a:spcAft>
                <a:spcPts val="0"/>
              </a:spcAft>
            </a:pPr>
            <a:r>
              <a:rPr sz="1210" b="0" i="0">
                <a:solidFill>
                  <a:srgbClr val="C9D1D9"/>
                </a:solidFill>
                <a:latin typeface="Calibri"/>
              </a:rPr>
              <a:t>Σ|Ai - bi| + Σ|bi - b(i+1)|</a:t>
            </a:r>
          </a:p>
          <a:p>
            <a:pPr>
              <a:spcAft>
                <a:spcPts val="0"/>
              </a:spcAft>
            </a:pPr>
            <a:r>
              <a:rPr sz="1210" b="0" i="0">
                <a:solidFill>
                  <a:srgbClr val="C9D1D9"/>
                </a:solidFill>
                <a:latin typeface="Calibri"/>
              </a:rPr>
              <a:t>This is a convex DP on a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627632"/>
            <a:ext cx="3657600" cy="219456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50800"/>
          <a:lstStyle/>
          <a:p>
            <a:pPr algn="ctr"/>
            <a:r>
              <a:rPr sz="850" b="1">
                <a:solidFill>
                  <a:srgbClr val="0D1117"/>
                </a:solidFill>
                <a:latin typeface="Calibri"/>
              </a:rPr>
              <a:t>MINIMIZER INTERVAL DP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847088"/>
            <a:ext cx="3657600" cy="987552"/>
          </a:xfrm>
          <a:prstGeom prst="rect">
            <a:avLst/>
          </a:prstGeom>
          <a:solidFill>
            <a:srgbClr val="052E24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Aft>
                <a:spcPts val="0"/>
              </a:spcAft>
            </a:pPr>
            <a:r>
              <a:rPr sz="1120">
                <a:solidFill>
                  <a:srgbClr val="C9D1D9"/>
                </a:solidFill>
                <a:latin typeface="Calibri"/>
              </a:rPr>
              <a:t>Let Fi(x) = minimum cost for columns 1..i with bi = x.</a:t>
            </a:r>
          </a:p>
          <a:p>
            <a:pPr>
              <a:spcAft>
                <a:spcPts val="0"/>
              </a:spcAft>
            </a:pPr>
            <a:r>
              <a:rPr sz="1120">
                <a:solidFill>
                  <a:srgbClr val="C9D1D9"/>
                </a:solidFill>
                <a:latin typeface="Calibri"/>
              </a:rPr>
              <a:t>If the minimizers of Fi form an interval [L, R], then</a:t>
            </a:r>
          </a:p>
          <a:p>
            <a:pPr>
              <a:spcAft>
                <a:spcPts val="0"/>
              </a:spcAft>
            </a:pPr>
            <a:r>
              <a:rPr sz="1120">
                <a:solidFill>
                  <a:srgbClr val="C9D1D9"/>
                </a:solidFill>
                <a:latin typeface="Calibri"/>
              </a:rPr>
              <a:t>Fi+1(x) = |x - A(i+1)| + dist(x, [L, R]) + const.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944368"/>
            <a:ext cx="3657600" cy="219456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50800"/>
          <a:lstStyle/>
          <a:p>
            <a:pPr algn="ctr"/>
            <a:r>
              <a:rPr sz="850" b="1">
                <a:solidFill>
                  <a:srgbClr val="0D1117"/>
                </a:solidFill>
                <a:latin typeface="Calibri"/>
              </a:rPr>
              <a:t>INTERVAL UPDATE + BACKTRACK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163824"/>
            <a:ext cx="3657600" cy="1188720"/>
          </a:xfrm>
          <a:prstGeom prst="rect">
            <a:avLst/>
          </a:prstGeom>
          <a:solidFill>
            <a:srgbClr val="052E24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/>
          <a:lstStyle/>
          <a:p>
            <a:pPr algn="ctr"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A &lt; L   -&gt; new interval [A, L]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L ≤ A ≤ R -&gt; [A, A]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A &gt; R   -&gt; [R, A]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After all intervals are known, pick any bN in [L, R]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C9D1D9"/>
                </a:solidFill>
                <a:latin typeface="Calibri"/>
              </a:rPr>
              <a:t>and backtrack with  bi = clamp(b(i+1), [Li, Ri]).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4480560"/>
            <a:ext cx="3657600" cy="256032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/>
          <a:lstStyle/>
          <a:p>
            <a:pPr algn="ctr"/>
            <a:r>
              <a:rPr sz="1000">
                <a:solidFill>
                  <a:srgbClr val="8B949E"/>
                </a:solidFill>
                <a:latin typeface="Calibri"/>
              </a:rPr>
              <a:t>O  (N)  time, O(N) memory  —  slope trick compressed to intervals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676656"/>
            <a:ext cx="4754880" cy="431596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676656"/>
            <a:ext cx="822960" cy="237744"/>
          </a:xfrm>
          <a:prstGeom prst="rect">
            <a:avLst/>
          </a:prstGeom>
          <a:solidFill>
            <a:srgbClr val="30363D"/>
          </a:solidFill>
          <a:ln w="1016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>
                <a:solidFill>
                  <a:srgbClr val="00D4AA"/>
                </a:solidFill>
                <a:latin typeface="Calibri"/>
              </a:rPr>
              <a:t>Java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914400"/>
            <a:ext cx="4754880" cy="9144"/>
          </a:xfrm>
          <a:prstGeom prst="rect">
            <a:avLst/>
          </a:prstGeom>
          <a:solidFill>
            <a:srgbClr val="30363D"/>
          </a:solidFill>
          <a:ln w="127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969264"/>
            <a:ext cx="4462272" cy="3913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>
                <a:solidFill>
                  <a:srgbClr val="C9D1D9"/>
                </a:solidFill>
                <a:latin typeface="Consolas"/>
              </a:rPr>
              <a:t>static long[] solve(long[] A){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int N=A.length;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long[] L=new long[N], R=new long[N], b=new long[N];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L[0]=R[0]=A[0];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for(int i=1;i&lt;N;i++){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long a=A[i];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if(a&lt;L[i-1]){ L[i]=a;      R[i]=L[i-1]; 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else if(a&gt;R[i-1]){ L[i]=R[i-1]; R[i]=a; 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else{ L[i]=a; R[i]=a; 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}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b[N-1]=L[N-1];           // any point in [L[N-1], R[N-1]] works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for(int i=N-2;i&gt;=0;i--)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    b[i]=Math.max(L[i], Math.min(R[i], b[i+1]));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    return b;</a:t>
            </a:r>
            <a:br/>
            <a:r>
              <a:rPr sz="75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Cross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47472" y="69494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Fill an N×M grid with values 0–4 so that every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interior cell's 5-cell plus-shape (cross) contains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all five distinct values.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591056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591056" y="1847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solidFill>
            <a:srgbClr val="052E24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207008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FC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0FFC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47472" y="268833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Cross: {0,1,2,3,4} 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47472" y="2651760"/>
            <a:ext cx="3657600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38912" y="265176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47472" y="2871216"/>
            <a:ext cx="3657600" cy="12344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38912" y="2898648"/>
            <a:ext cx="3474720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Assign  grid[r][c] = (r + 2c) %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Cross at (r,c):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center         = (r + 2c) %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up/down      = center ±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left/right     = center ±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{c-2, c-1, c, c+1, c+2} mod 5 = {0..4} 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47472" y="3968496"/>
            <a:ext cx="365760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38912" y="39684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(N × M)  —  two nested loops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160520" y="676656"/>
            <a:ext cx="4754880" cy="431596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160520" y="676656"/>
            <a:ext cx="822960" cy="237744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233672" y="67665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4160520" y="914400"/>
            <a:ext cx="475488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4306824" y="969264"/>
            <a:ext cx="4462272" cy="3913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int[][] solve(int N, int M)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grid = new int[N][M];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r = 0; r &lt; N; r++)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for (int c = 0; c &lt; M; c++)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grid[r][c] = (r + 2 * c) % 5;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grid;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Proof: cross at (r, c) contains: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center     = (r + 2c)       %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up/down    = (r±1 + 2c)     % 5  → center ±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left/right = (r + 2(c±1))   % 5  → center ±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{ center−2, center−1, center,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  center+1, center+2 } mod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  = { 0, 1, 2, 3, 4 }  ✓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Official variant uses the same idea: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grid[r][c] = (2*r + c) %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(changes by 1 horizontally, 2 vertically)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Both are valid.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Rank 2+3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47472" y="694944"/>
            <a:ext cx="4389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Grass (G) and mycelium (M) start at two points 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 infinite grid. Grass claims new cells every 2 ticks;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mycelium every 7 ticks. Count cells mycelium claims.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47472" y="1463040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Expansion timeline (grass wins all ties):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47472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47472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47472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86968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86968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86968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426464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426464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426464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965960" y="1691640"/>
            <a:ext cx="475488" cy="384048"/>
          </a:xfrm>
          <a:prstGeom prst="rect">
            <a:avLst/>
          </a:prstGeom>
          <a:solidFill>
            <a:srgbClr val="2D1D00"/>
          </a:solidFill>
          <a:ln cap="flat" cmpd="sng" w="9525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965960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t=7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965960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505456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2505456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505456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044952" y="1691640"/>
            <a:ext cx="475488" cy="384048"/>
          </a:xfrm>
          <a:prstGeom prst="rect">
            <a:avLst/>
          </a:prstGeom>
          <a:solidFill>
            <a:srgbClr val="0D2818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044952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t=10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044952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584448" y="1691640"/>
            <a:ext cx="475488" cy="384048"/>
          </a:xfrm>
          <a:prstGeom prst="rect">
            <a:avLst/>
          </a:prstGeom>
          <a:solidFill>
            <a:srgbClr val="2D1D00"/>
          </a:solidFill>
          <a:ln cap="flat" cmpd="sng" w="9525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584448" y="1691640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t=14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584448" y="1883664"/>
            <a:ext cx="47548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0C24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47472" y="2176272"/>
            <a:ext cx="4389120" cy="292608"/>
          </a:xfrm>
          <a:prstGeom prst="rect">
            <a:avLst/>
          </a:prstGeom>
          <a:solidFill>
            <a:srgbClr val="2D0D0D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438912" y="217627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⚠  Simple formula  7·dm &lt; 2·dg  is WRONG — paths block each other!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47472" y="3977640"/>
            <a:ext cx="438912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38912" y="39776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(D²·log D)  main subtask;  O(log D) closed-form for bonus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892040" y="694944"/>
            <a:ext cx="4023360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983480" y="69494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4892040" y="914400"/>
            <a:ext cx="4023360" cy="182880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983480" y="941832"/>
            <a:ext cx="3840480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Use two BFS queues with timestamps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1. grassQ — each cell expands at time+2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2. mycQ  — each cell expands at time+7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At each tick: process ALL grass first,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then mycelium. First arrival owns the cell.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892040" y="2651760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Simulation steps: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892040" y="28895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C24B"/>
                </a:solidFill>
                <a:latin typeface="Consolas"/>
                <a:ea typeface="Consolas"/>
                <a:cs typeface="Consolas"/>
                <a:sym typeface="Consolas"/>
              </a:rPr>
              <a:t>Start: tiles = {G_pos→G, M_pos→M}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892040" y="3163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Loop while mycQ not empty: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892040" y="343814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1. Drain grassQ for current tick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892040" y="371246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2. Drain mycQ for current tick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892040" y="398678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3. Each expansion adds neighbors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892040" y="42611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at (tick + delay) to its queue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892040" y="45354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24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0C24B"/>
                </a:solidFill>
                <a:latin typeface="Consolas"/>
                <a:ea typeface="Consolas"/>
                <a:cs typeface="Consolas"/>
                <a:sym typeface="Consolas"/>
              </a:rPr>
              <a:t>Count tiles with value 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Mycelium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7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7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final int G=2, M=7;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final int[][] DIRS={{0,1},{0,-1},{1,0},{-1,0}};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long key(long x,long y){return x*2_000_000_007L+y;}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long solve(int xg,int yg,int xm,int ym)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Deque&lt;long[]&gt; gQ=new ArrayDeque&lt;&gt;(), mQ=new ArrayDeque&lt;&gt;();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Map&lt;Long,Character&gt; tiles=new HashMap&lt;&gt;();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tiles.put(key(xg,yg),'G'); tiles.put(key(xm,ym),'M');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gQ.add(new long[]{xg,yg,G}); mQ.add(new long[]{xm,ym,M});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time=1;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(!mQ.isEmpty())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// Grass FIRST at each tick — wins ties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while (!gQ.isEmpty() &amp;&amp; gQ.peek()[2]==time)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long[] c=gQ.poll();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d:DIRS)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long nx=c[0]+d[0], ny=c[1]+d[1];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(tiles.putIfAbsent(key(nx,ny),'G')==null)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gQ.add(new long[]{nx,ny,time+G});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while (!mQ.isEmpty() &amp;&amp; mQ.peek()[2]==time)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long[] c=mQ.poll();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d:DIRS)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long nx=c[0]+d[0], ny=c[1]+d[1];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(tiles.putIfAbsent(key(nx,ny),'M')==null)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mQ.add(new long[]{nx,ny,time+M});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time++;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Collections.frequency(tiles.values(),'M');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 factory grid has conveyors (^v&lt;&gt;), splitters (S),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and destroyers (X). Items enter at (0,0).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What fraction of items exits the grid boundary?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47472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47472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Conveyor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1737360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8C42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737360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Splitter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127248" y="14630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127248" y="19019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Destroy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47472" y="219456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 splits equally among valid exits: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Valid = destroy tile OR conveyor NOT pointing 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(N × M)  —  BFS topological traversal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828032" y="914400"/>
            <a:ext cx="4059936" cy="228600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919472" y="941832"/>
            <a:ext cx="3877056" cy="223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Track probability as EXACT fractions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(BigDecimal or Fraction), not floats.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BFS from (0,0):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Conveyor → pass all prob to next cell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Splitter → divide equally among exits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Destroyer → prob is lost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Off-grid → collected!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Return answer as reduced fraction p/q.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828032" y="3127248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exact fractions?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828032" y="3364992"/>
            <a:ext cx="405993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Splitters divide by 2 or 3. After many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divisions, floating-point error accumulates.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BigDecimal with scale=20 is exact.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8C42"/>
          </a:solidFill>
          <a:ln cap="flat" cmpd="sng" w="12700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9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9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BigDecimal[] solve(int N, int M, char[][] grid)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Map&lt;Integer,BigDecimal&gt; prob = new HashMap&lt;&gt;();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prob.put(0, BigDecimal.ONE);            // enters at (0,0)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BigDecimal out = BigDecimal.ZERO;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Deque&lt;int[]&gt; Q = new ArrayDeque&lt;&gt;();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Q.add(new int[]{0,0});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boolean[] seen = new boolean[N*M];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(!Q.isEmpty())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int[] rc=Q.poll(); int r=rc[0],c=rc[1],id=r*M+c;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(seen[id])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seen[id]=true;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BigDecimal p=prob.getOrDefault(id,BigDecimal.ZERO);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(p.signum()==0)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char t=grid[r][c];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(t=='X') continue;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("^v&lt;&gt;".indexOf(t)&gt;=0)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int[] nx=step(r,c,t);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if (inBounds(nx[0],nx[1],N,M))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prob.merge(nx[0]*M+nx[1],p,BigDecimal::add);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Q.add(nx);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 else out=out.add(p);      // exits grid → collected!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 else if (t=='S')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List&lt;int[]&gt; exits=validExits(r,c,grid,N,M);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BigDecimal share=p.divide(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BigDecimal.valueOf(exits.size()),20,HALF_UP);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e:exits)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prob.merge(e[0]*M+e[1],share,BigDecimal::add);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Q.add(e);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reduceFraction(out);   // → {numerator, denominator}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Splitters 2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Given P, A, B — construct a factory grid (≤5000 cells)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that collects exactly  P / (2^A × 3^B)  of items.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Output grid dimensions and tile layout.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Building blocks: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47472" y="169164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47472" y="1691640"/>
            <a:ext cx="54864" cy="320040"/>
          </a:xfrm>
          <a:prstGeom prst="rect">
            <a:avLst/>
          </a:prstGeom>
          <a:solidFill>
            <a:srgbClr val="B792F5"/>
          </a:solidFill>
          <a:ln cap="flat" cmpd="sng" w="12700">
            <a:solidFill>
              <a:srgbClr val="B792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75488" y="169164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2-way split   routes 1/2 each to 2 exits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47472" y="205740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347472" y="2057400"/>
            <a:ext cx="54864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475488" y="205740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3-way split   routes 1/3 each to 3 exits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47472" y="2423160"/>
            <a:ext cx="4297680" cy="320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47472" y="2423160"/>
            <a:ext cx="54864" cy="3200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475488" y="2423160"/>
            <a:ext cx="4169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Destroy tile   discards unwanted stream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(A + B + log P)  grid rows to construct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828032" y="914400"/>
            <a:ext cx="4059936" cy="19202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4919472" y="941832"/>
            <a:ext cx="3877056" cy="1865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Chain A rows of 2-way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produces 2^A equal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Chain B rows of 3-way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→ produces 2^A × 3^B equal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Route exactly P of those substreams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to the output conveyor.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Destroy the remaining streams.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28032" y="2743200"/>
            <a:ext cx="4059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2F5"/>
                </a:solidFill>
                <a:latin typeface="Calibri"/>
                <a:ea typeface="Calibri"/>
                <a:cs typeface="Calibri"/>
                <a:sym typeface="Calibri"/>
              </a:rPr>
              <a:t>Example: P=3, A=2, B=1  →  3/12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828032" y="3017520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0: [S]           → 1/2 each (2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828032" y="3310128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1: [S] [S]       → 1/4 each (4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828032" y="3602736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Row 2: [S][S][S][S]  → 1/12 each (12 streams)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828032" y="3895344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Row 3: [&gt;][X][&gt;][X][&gt;][X]...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28032" y="4187952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  keep drop  keep drop  keep drop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828032" y="4480560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2F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B792F5"/>
                </a:solidFill>
                <a:latin typeface="Consolas"/>
                <a:ea typeface="Consolas"/>
                <a:cs typeface="Consolas"/>
                <a:sym typeface="Consolas"/>
              </a:rPr>
              <a:t>       → collects exactly 3 × 1/12 = 1/4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Rank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An N×M lecture hall has available (-) and blocked (#)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seats. Select K seats that minimize the maximum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distance between any two chosen seats.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Coordinate rotation trick: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47472" y="1700784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38912" y="170078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444752" y="170078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(r, c)  →  (u, v) = (r+c, r-c)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47472" y="2029968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438912" y="202996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444752" y="20299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dist  →  Chebyshev dist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347472" y="2359152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38912" y="235915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Chebyshev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444752" y="235915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max(|Δu|, |Δv|)  ≤ 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47472" y="2688336"/>
            <a:ext cx="4297680" cy="29260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438912" y="268833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Ball shape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444752" y="26883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Circle  →  Axis-aligned square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(K² × log(N+M))  binary search × window check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828032" y="914400"/>
            <a:ext cx="4059936" cy="283464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919472" y="941832"/>
            <a:ext cx="3877056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Binary search on D (the answer)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1. Map each available seat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(u, v) = (r+c, r-c)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2. Build 2D prefix-sum array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O(1) count in any rectangle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3. For each D, check all windows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size 2D × 2D in (u,v) space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4. Any window with ≥ K seats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 → D is achievable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828032" y="3657600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does rotation help?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828032" y="3895344"/>
            <a:ext cx="40599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Manhattan ball is a diamond — hard to query.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After rotation it becomes a square — easy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to query with a 2D prefix sum!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Lecture Main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3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3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Transform (r,c) → (u,v)=(r+c, r-c): Manhattan → Chebyshev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 minMaxDist(List&lt;int[]&gt; seats,int K,int N,int M)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S=seats.size(), maxU=N+M-1, maxV=N+M-1;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uv=new int[S][4];     // [u, v, r, c]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i=0;i&lt;S;i++)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r=seats.get(i)[0], c=seats.get(i)[1];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uv[i]=new int[]{r+c, r-c+N-1, r, c};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// 2D prefix-sum → O(1) rectangle count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grid=new int[maxU][maxV];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(int[] s:uv) grid[s[0]][s[1]]++;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int[][] p=buildPrefixSum(grid,maxU,maxV);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// Binary search on 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 lo=0,hi=N+M;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while (lo&lt;hi)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mid=(lo+hi)/2;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(canFit(uv,p,mid,K,maxV)) hi=mid; else lo=mid+1;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lo;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boolean canFit(int[][] uv,int[][] p,int D,int K,int mV){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(int[] a:uv)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u2=Math.min(a[0]+2*D,p.length-2);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int v2=Math.min(a[1]+2*D,mV-1);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if (p[u2+1][v2+1]-p[a[0]][v2+1]-p[u2+1][a[1]]+p[a[0]][a[1]]&gt;=K)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return 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false;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buildPrefixSum: standard 2D prefix-sum, O(R·C) build / O(1) query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/>
        </p:nvSpPr>
        <p:spPr>
          <a:xfrm>
            <a:off x="228600" y="640080"/>
            <a:ext cx="45720" cy="438912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 Easy  —  Problem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solidFill>
            <a:srgbClr val="161B22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7863840" y="109728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Rank 3+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47472" y="694944"/>
            <a:ext cx="4297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Find N positive integers a[1..N] to best satisfy 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constraints:  a[r] × a[c] ≈ V (weight W).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After optimizing, discard D highest-error constraints.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47472" y="1444752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Log transform  →  linear regression: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02336" y="1700784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a[r] × a[c]  ≈  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02336" y="1956816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⟹  log(a[r]) + log(a[c])  ≈  log(V)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02336" y="2212848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⟹  x[r] + x[c]  ≈  log(V)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02336" y="2468880"/>
            <a:ext cx="4242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FC3F7"/>
                </a:solidFill>
                <a:latin typeface="Consolas"/>
                <a:ea typeface="Consolas"/>
                <a:cs typeface="Consolas"/>
                <a:sym typeface="Consolas"/>
              </a:rPr>
              <a:t>    where  x[i] = log(a[i])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47472" y="2724912"/>
            <a:ext cx="4297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Now each constraint is  x[r] + x[c] ≈ log(V),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which is linear — solvable by coordinate descent!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347472" y="3977640"/>
            <a:ext cx="4297680" cy="27432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438912" y="3977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  (iters × N × M)  ~100 iterations to converge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828032" y="694944"/>
            <a:ext cx="4059936" cy="219456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919472" y="69494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828032" y="914400"/>
            <a:ext cx="4059936" cy="2468880"/>
          </a:xfrm>
          <a:prstGeom prst="rect">
            <a:avLst/>
          </a:prstGeom>
          <a:solidFill>
            <a:srgbClr val="052E24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919472" y="941832"/>
            <a:ext cx="3877056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Median Coordinate Descent: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For each variable x[i], fix all others.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Optimal x[i] = weighted median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  { log(V) − x[j]  for each constraint on i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Repeat 50–100 iterations until stable.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Round result: a[i] = round(exp(x[i]))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Finally: compute per-constraint error,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discard the D with highest error.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4828032" y="3291840"/>
            <a:ext cx="4059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Why weighted median (not mean)?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828032" y="3538728"/>
            <a:ext cx="405993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 minimize weighted L1 error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(not L2). L1 is minimized by the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weighted median, not the mean.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Multiplication Easy  —  Java Implementation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5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15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// cons[i] = {r, c, V, W}  (1-indexed r and c)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int[] solve(int N,int M,int D,int[][] cons)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double[] x=new double[N+1];     // x[i] = log(a[i])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iter=0;iter&lt;100;iter++) {   // coordinate descent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for (int i=1;i&lt;=N;i++)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List&lt;double[]&gt; tgts=new ArrayList&lt;&gt;();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for (int[] con:cons)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if (con[0]==i) tgts.add(new double[]{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Math.log(con[2])-x[con[1]], con[3]});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else if (con[1]==i) tgts.add(new double[]{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        Math.log(con[2])-x[con[0]], con[3]});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    if (!tgts.isEmpty()) x[i]=weightedMedian(tgts);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int[] a=new int[N+1];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i=1;i&lt;=N;i++)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a[i]=(int)Math.max(1,Math.min(1e9,Math.round(Math.exp(x[i]))));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double[] err=new double[cons.length];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(int i=0;i&lt;cons.length;i++)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long pred=(long)a[cons[i][0]]*a[cons[i][1]];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    err[i]=cons[i][3]*Math.abs(pred-cons[i][2])/(double)cons[i][2];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discardTopD(err,D);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static double weightedMedian(List&lt;double[]&gt; vw)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vw.sort(Comparator.comparingDouble(p-&gt;p[0]));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double tot=vw.stream().mapToDouble(p-&gt;p[1]).sum(), cum=0;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for (double[] p:vw) { cum+=p[1]; if (cum*2&gt;=tot) return p[0]; 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    return vw.get(vw.size()-1)[0];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C9D1D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409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4754880" y="-731520"/>
            <a:ext cx="5029200" cy="658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1B22"/>
              </a:buClr>
              <a:buSzPts val="42000"/>
              <a:buFont typeface="Calibri"/>
              <a:buNone/>
            </a:pPr>
            <a:r>
              <a:rPr b="1" i="0" lang="en-US" sz="42000" u="none" cap="none" strike="noStrike">
                <a:solidFill>
                  <a:srgbClr val="161B2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4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502920" y="822960"/>
            <a:ext cx="594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400"/>
              <a:buFont typeface="Calibri"/>
              <a:buNone/>
            </a:pPr>
            <a:r>
              <a:rPr b="1" i="0" lang="en-US" sz="7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7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502920" y="2121408"/>
            <a:ext cx="420624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Rectangle 410"/>
          <p:cNvSpPr/>
          <p:nvPr/>
        </p:nvSpPr>
        <p:spPr>
          <a:xfrm>
            <a:off x="502920" y="2249424"/>
            <a:ext cx="274320" cy="219456"/>
          </a:xfrm>
          <a:prstGeom prst="rect">
            <a:avLst/>
          </a:prstGeom>
          <a:solidFill>
            <a:srgbClr val="58A6FF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4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877824" y="2231136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Laser  —  CRT on hit times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502920" y="2537460"/>
            <a:ext cx="274320" cy="219456"/>
          </a:xfrm>
          <a:prstGeom prst="rect">
            <a:avLst/>
          </a:prstGeom>
          <a:solidFill>
            <a:srgbClr val="F2CC60"/>
          </a:solidFill>
          <a:ln w="6350">
            <a:solidFill>
              <a:srgbClr val="F2C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5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877824" y="251917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Grid Fill  —  interval DP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502920" y="2825496"/>
            <a:ext cx="274320" cy="219456"/>
          </a:xfrm>
          <a:prstGeom prst="rect">
            <a:avLst/>
          </a:prstGeom>
          <a:solidFill>
            <a:srgbClr val="2EA043"/>
          </a:solidFill>
          <a:ln w="635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7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877824" y="280720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Cross  —  (r+2c)%5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502920" y="3113532"/>
            <a:ext cx="274320" cy="219456"/>
          </a:xfrm>
          <a:prstGeom prst="rect">
            <a:avLst/>
          </a:prstGeom>
          <a:solidFill>
            <a:srgbClr val="D29922"/>
          </a:solidFill>
          <a:ln w="63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8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877824" y="3095244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Mycelium  —  BFS dual-queue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502920" y="3401568"/>
            <a:ext cx="274320" cy="219456"/>
          </a:xfrm>
          <a:prstGeom prst="rect">
            <a:avLst/>
          </a:prstGeom>
          <a:solidFill>
            <a:srgbClr val="F0883E"/>
          </a:solidFill>
          <a:ln w="63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9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877824" y="3383279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Splitters  —  Exact fraction sim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502920" y="3689604"/>
            <a:ext cx="274320" cy="219456"/>
          </a:xfrm>
          <a:prstGeom prst="rect">
            <a:avLst/>
          </a:prstGeom>
          <a:solidFill>
            <a:srgbClr val="A371F7"/>
          </a:solidFill>
          <a:ln w="635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10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877824" y="3671316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Splitters 2  —  Substream construction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502920" y="3977639"/>
            <a:ext cx="274320" cy="219456"/>
          </a:xfrm>
          <a:prstGeom prst="rect">
            <a:avLst/>
          </a:prstGeom>
          <a:solidFill>
            <a:srgbClr val="FF7B72"/>
          </a:solidFill>
          <a:ln w="6350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11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877824" y="395935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Lecture Main  —  BinSearch + coord rotate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502920" y="4265676"/>
            <a:ext cx="274320" cy="219456"/>
          </a:xfrm>
          <a:prstGeom prst="rect">
            <a:avLst/>
          </a:prstGeom>
          <a:solidFill>
            <a:srgbClr val="56D4FF"/>
          </a:solidFill>
          <a:ln w="6350">
            <a:solidFill>
              <a:srgbClr val="56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0D1117"/>
                </a:solidFill>
                <a:latin typeface="Calibri"/>
              </a:rPr>
              <a:t>12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877824" y="424738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70" b="0" i="0">
                <a:solidFill>
                  <a:srgbClr val="E6EDF3"/>
                </a:solidFill>
                <a:latin typeface="Calibri"/>
              </a:rPr>
              <a:t>Multiplication  —  Log + weighted median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502920" y="4736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github.com/calico-team/calico-sp26-public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"/>
          <p:cNvSpPr/>
          <p:nvPr/>
        </p:nvSpPr>
        <p:spPr>
          <a:xfrm>
            <a:off x="0" y="0"/>
            <a:ext cx="128100" cy="5143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411480" y="1463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SECTION 0</a:t>
            </a:r>
            <a:r>
              <a:rPr b="1" lang="en-US" sz="1300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411480" y="182880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DFS/BFS code explanation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411480" y="2834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nodes · edges · directed · weighted · adjacency lists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exploring a maze. At every fork, you pick one path and follow it as far as it goes — until you hit a dead end. Then you backtrack to the last fork and try the next path.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Mark current node as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Prevents infinite loops on graphs with cycles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Loop through all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 each neighbor not yet visited...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Recursively visit each neighbor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Go as deep as possible before coming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56D364"/>
          </a:solidFill>
          <a:ln cap="flat" cmpd="sng" w="12700">
            <a:solidFill>
              <a:srgbClr val="56D3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Backtrack automatically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the recursive call returns, you're back at the 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9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37E"/>
          </a:solidFill>
          <a:ln cap="flat" cmpd="sng" w="12700">
            <a:solidFill>
              <a:srgbClr val="1A23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0" y="0"/>
            <a:ext cx="54900" cy="6585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201168" y="0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 — The Idea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274320" y="804672"/>
            <a:ext cx="859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Imagine dropping a stone into a pond. The ripple expands outward — first it reaches everything 1 step away, then 2 steps, then 3... BFS works exactly like that.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274320" y="1554480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347472" y="1719072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347472" y="1719072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68680" y="160934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start node to queue, mark visited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868680" y="190195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Queue is FIFO — first in, first 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274320" y="2359152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347472" y="2523744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347472" y="2523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868680" y="241401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Dequeue front node, process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868680" y="2706624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This node is at the current distance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274320" y="3163824"/>
            <a:ext cx="8595300" cy="713100"/>
          </a:xfrm>
          <a:prstGeom prst="rect">
            <a:avLst/>
          </a:prstGeom>
          <a:solidFill>
            <a:srgbClr val="F8F9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9"/>
          <p:cNvSpPr/>
          <p:nvPr/>
        </p:nvSpPr>
        <p:spPr>
          <a:xfrm>
            <a:off x="347472" y="3328416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347472" y="3328416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868680" y="321868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Add all unvisited neighbors to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868680" y="3511296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They will be processed at distance + 1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274320" y="3968496"/>
            <a:ext cx="85953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347472" y="4133088"/>
            <a:ext cx="384000" cy="384000"/>
          </a:xfrm>
          <a:prstGeom prst="ellipse">
            <a:avLst/>
          </a:prstGeom>
          <a:solidFill>
            <a:srgbClr val="F0883E"/>
          </a:solidFill>
          <a:ln cap="flat" cmpd="sng" w="12700">
            <a:solidFill>
              <a:srgbClr val="F088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347472" y="4133088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868680" y="40233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Repeat until queue is empty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868680" y="4315968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queue empties, all reachable nodes are visited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00B8D9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457200" y="73152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now </a:t>
            </a: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better understand </a:t>
            </a: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457200" y="18288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DFS · BFS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1371600" y="2468880"/>
            <a:ext cx="6400800" cy="18288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0B8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1554480" y="2542032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8D9"/>
                </a:solidFill>
                <a:latin typeface="Calibri"/>
                <a:ea typeface="Calibri"/>
                <a:cs typeface="Calibri"/>
                <a:sym typeface="Calibri"/>
              </a:rPr>
              <a:t>Before Next Meeting: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1554480" y="3042796"/>
            <a:ext cx="585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T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ry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olve 3 practice problems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any website (leetcode, codeforces), and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submit in Java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1554480" y="3629442"/>
            <a:ext cx="585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Check: usaco.guide/silver/graph-traversal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457200" y="44805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See you at the next meeting.  Let's build.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6" name="Google Shape;216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DFS</a:t>
            </a:r>
          </a:p>
        </p:txBody>
      </p:sp>
      <p:sp>
        <p:nvSpPr>
          <p:cNvPr id="219" name="Google Shape;219;p7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DFS  —  Java Template</a:t>
            </a:r>
          </a:p>
        </p:txBody>
      </p:sp>
      <p:sp>
        <p:nvSpPr>
          <p:cNvPr id="220" name="Google Shape;220;p7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Java</a:t>
            </a:r>
          </a:p>
        </p:txBody>
      </p:sp>
      <p:cxnSp>
        <p:nvCxnSpPr>
          <p:cNvPr id="223" name="Google Shape;223;p7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7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sz="850" b="0">
                <a:latin typeface="Consolas"/>
              </a:rPr>
              <a:t>import java.util.*;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public class Main {</a:t>
            </a:r>
          </a:p>
          <a:p>
            <a:pPr/>
            <a:r>
              <a:rPr sz="850" b="0">
                <a:latin typeface="Consolas"/>
              </a:rPr>
              <a:t>    static boolean[] vis;</a:t>
            </a:r>
          </a:p>
          <a:p>
            <a:pPr/>
            <a:r>
              <a:rPr sz="850" b="0">
                <a:latin typeface="Consolas"/>
              </a:rPr>
              <a:t>    static List&lt;List&lt;Integer&gt;&gt; graph;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public static void main(String[] args) {</a:t>
            </a:r>
          </a:p>
          <a:p>
            <a:pPr/>
            <a:r>
              <a:rPr sz="850" b="0">
                <a:latin typeface="Consolas"/>
              </a:rPr>
              <a:t>        Scanner sc = new Scanner(System.in);</a:t>
            </a:r>
          </a:p>
          <a:p>
            <a:pPr/>
            <a:r>
              <a:rPr sz="850" b="0">
                <a:latin typeface="Consolas"/>
              </a:rPr>
              <a:t>        int t = sc.nextInt();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while (t-- &gt; 0) {</a:t>
            </a:r>
          </a:p>
          <a:p>
            <a:pPr/>
            <a:r>
              <a:rPr sz="850" b="0">
                <a:latin typeface="Consolas"/>
              </a:rPr>
              <a:t>            int n = sc.nextInt();</a:t>
            </a:r>
          </a:p>
          <a:p>
            <a:pPr/>
            <a:r>
              <a:rPr sz="850" b="0">
                <a:latin typeface="Consolas"/>
              </a:rPr>
              <a:t>            int m = sc.nextInt();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graph = new ArrayList&lt;&gt;();</a:t>
            </a:r>
          </a:p>
          <a:p>
            <a:pPr/>
            <a:r>
              <a:rPr sz="850" b="0">
                <a:latin typeface="Consolas"/>
              </a:rPr>
              <a:t>            for (int i = 0; i &lt; n; i++) {</a:t>
            </a:r>
          </a:p>
          <a:p>
            <a:pPr/>
            <a:r>
              <a:rPr sz="850" b="0">
                <a:latin typeface="Consolas"/>
              </a:rPr>
              <a:t>                graph.add(new ArrayList&lt;&gt;());</a:t>
            </a:r>
          </a:p>
          <a:p>
            <a:pPr/>
            <a:r>
              <a:rPr sz="850" b="0">
                <a:latin typeface="Consolas"/>
              </a:rPr>
              <a:t>            }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vis = new boolean[n];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for (int i = 0; i &lt; m; i++) {</a:t>
            </a:r>
          </a:p>
          <a:p>
            <a:pPr/>
            <a:r>
              <a:rPr sz="850" b="0">
                <a:latin typeface="Consolas"/>
              </a:rPr>
              <a:t>                int u = sc.nextInt();</a:t>
            </a:r>
          </a:p>
          <a:p>
            <a:pPr/>
            <a:r>
              <a:rPr sz="850" b="0">
                <a:latin typeface="Consolas"/>
              </a:rPr>
              <a:t>                int v = sc.nextInt();</a:t>
            </a:r>
          </a:p>
          <a:p>
            <a:pPr/>
            <a:r>
              <a:rPr sz="850" b="0">
                <a:latin typeface="Consolas"/>
              </a:rPr>
              <a:t>                graph.get(u).add(v);</a:t>
            </a:r>
          </a:p>
          <a:p>
            <a:pPr/>
            <a:r>
              <a:rPr sz="850" b="0">
                <a:latin typeface="Consolas"/>
              </a:rPr>
              <a:t>            }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dfs(0); // start from node 0</a:t>
            </a:r>
          </a:p>
          <a:p>
            <a:pPr/>
            <a:r>
              <a:rPr sz="850" b="0">
                <a:latin typeface="Consolas"/>
              </a:rPr>
              <a:t>        }</a:t>
            </a:r>
          </a:p>
          <a:p>
            <a:pPr/>
            <a:r>
              <a:rPr sz="850" b="0">
                <a:latin typeface="Consolas"/>
              </a:rPr>
              <a:t>    }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static void dfs(int start) {</a:t>
            </a:r>
          </a:p>
          <a:p>
            <a:pPr/>
            <a:r>
              <a:rPr sz="850" b="0">
                <a:latin typeface="Consolas"/>
              </a:rPr>
              <a:t>        Stack&lt;Integer&gt; st = new Stack&lt;&gt;();</a:t>
            </a:r>
          </a:p>
          <a:p>
            <a:pPr/>
            <a:r>
              <a:rPr sz="850" b="0">
                <a:latin typeface="Consolas"/>
              </a:rPr>
              <a:t>        st.push(start);</a:t>
            </a:r>
          </a:p>
          <a:p>
            <a:pPr/>
            <a:r>
              <a:rPr sz="850" b="0">
                <a:latin typeface="Consolas"/>
              </a:rPr>
              <a:t>        vis[start] = true;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while (!st.isEmpty()) {</a:t>
            </a:r>
          </a:p>
          <a:p>
            <a:pPr/>
            <a:r>
              <a:rPr sz="850" b="0">
                <a:latin typeface="Consolas"/>
              </a:rPr>
              <a:t>            int node = st.pop();</a:t>
            </a:r>
          </a:p>
          <a:p>
            <a:pPr/>
            <a:r>
              <a:rPr sz="850" b="0">
                <a:latin typeface="Consolas"/>
              </a:rPr>
              <a:t>            System.out.println("Processing node " + node);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for (int nei : graph.get(node)) {</a:t>
            </a:r>
          </a:p>
          <a:p>
            <a:pPr/>
            <a:r>
              <a:rPr sz="850" b="0">
                <a:latin typeface="Consolas"/>
              </a:rPr>
              <a:t>                if (!vis[nei]) {</a:t>
            </a:r>
          </a:p>
          <a:p>
            <a:pPr/>
            <a:r>
              <a:rPr sz="850" b="0">
                <a:latin typeface="Consolas"/>
              </a:rPr>
              <a:t>                    st.push(nei);</a:t>
            </a:r>
          </a:p>
          <a:p>
            <a:pPr/>
            <a:r>
              <a:rPr sz="850" b="0">
                <a:latin typeface="Consolas"/>
              </a:rPr>
              <a:t>                    vis[nei] = true;</a:t>
            </a:r>
          </a:p>
          <a:p>
            <a:pPr/>
            <a:r>
              <a:rPr sz="850" b="0">
                <a:latin typeface="Consolas"/>
              </a:rPr>
              <a:t>                }</a:t>
            </a:r>
          </a:p>
          <a:p>
            <a:pPr/>
            <a:r>
              <a:rPr sz="850" b="0">
                <a:latin typeface="Consolas"/>
              </a:rPr>
              <a:t>            }</a:t>
            </a:r>
          </a:p>
          <a:p>
            <a:pPr/>
            <a:r>
              <a:rPr sz="850" b="0">
                <a:latin typeface="Consolas"/>
              </a:rPr>
              <a:t>        }</a:t>
            </a:r>
          </a:p>
          <a:p>
            <a:pPr/>
            <a:r>
              <a:rPr sz="850" b="0">
                <a:latin typeface="Consolas"/>
              </a:rPr>
              <a:t>    }</a:t>
            </a:r>
          </a:p>
          <a:p>
            <a:pPr/>
            <a:r>
              <a:rPr sz="850" b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6" name="Google Shape;216;p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solidFill>
            <a:srgbClr val="F0C24B"/>
          </a:solidFill>
          <a:ln cap="flat" cmpd="sng" w="12700">
            <a:solidFill>
              <a:srgbClr val="F0C2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0" y="0"/>
            <a:ext cx="6583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BFS</a:t>
            </a:r>
          </a:p>
        </p:txBody>
      </p:sp>
      <p:sp>
        <p:nvSpPr>
          <p:cNvPr id="219" name="Google Shape;219;p7"/>
          <p:cNvSpPr/>
          <p:nvPr/>
        </p:nvSpPr>
        <p:spPr>
          <a:xfrm>
            <a:off x="804672" y="0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BFS  —  Java Template</a:t>
            </a:r>
          </a:p>
        </p:txBody>
      </p:sp>
      <p:sp>
        <p:nvSpPr>
          <p:cNvPr id="220" name="Google Shape;220;p7"/>
          <p:cNvSpPr/>
          <p:nvPr/>
        </p:nvSpPr>
        <p:spPr>
          <a:xfrm>
            <a:off x="182880" y="621792"/>
            <a:ext cx="8778240" cy="4453128"/>
          </a:xfrm>
          <a:prstGeom prst="rect">
            <a:avLst/>
          </a:prstGeom>
          <a:solidFill>
            <a:srgbClr val="0D1117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82880" y="621792"/>
            <a:ext cx="914400" cy="2560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256032" y="6217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r>
              <a:t>Java</a:t>
            </a:r>
          </a:p>
        </p:txBody>
      </p:sp>
      <p:cxnSp>
        <p:nvCxnSpPr>
          <p:cNvPr id="223" name="Google Shape;223;p7"/>
          <p:cNvCxnSpPr/>
          <p:nvPr/>
        </p:nvCxnSpPr>
        <p:spPr>
          <a:xfrm>
            <a:off x="182880" y="87782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7"/>
          <p:cNvSpPr/>
          <p:nvPr/>
        </p:nvSpPr>
        <p:spPr>
          <a:xfrm>
            <a:off x="347472" y="932688"/>
            <a:ext cx="8467344" cy="4059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850"/>
              <a:buFont typeface="Consolas"/>
              <a:buNone/>
            </a:pPr>
            <a:r>
              <a:rPr sz="850" b="0">
                <a:latin typeface="Consolas"/>
              </a:rPr>
              <a:t>import java.util.*;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public class Main {</a:t>
            </a:r>
          </a:p>
          <a:p>
            <a:pPr/>
            <a:r>
              <a:rPr sz="850" b="0">
                <a:latin typeface="Consolas"/>
              </a:rPr>
              <a:t>    static boolean[] vis;</a:t>
            </a:r>
          </a:p>
          <a:p>
            <a:pPr/>
            <a:r>
              <a:rPr sz="850" b="0">
                <a:latin typeface="Consolas"/>
              </a:rPr>
              <a:t>    static List&lt;List&lt;Integer&gt;&gt; graph;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public static void main(String[] args) {</a:t>
            </a:r>
          </a:p>
          <a:p>
            <a:pPr/>
            <a:r>
              <a:rPr sz="850" b="0">
                <a:latin typeface="Consolas"/>
              </a:rPr>
              <a:t>        Scanner sc = new Scanner(System.in);</a:t>
            </a:r>
          </a:p>
          <a:p>
            <a:pPr/>
            <a:r>
              <a:rPr sz="850" b="0">
                <a:latin typeface="Consolas"/>
              </a:rPr>
              <a:t>        int t = sc.nextInt();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while (t-- &gt; 0) {</a:t>
            </a:r>
          </a:p>
          <a:p>
            <a:pPr/>
            <a:r>
              <a:rPr sz="850" b="0">
                <a:latin typeface="Consolas"/>
              </a:rPr>
              <a:t>            int n = sc.nextInt();</a:t>
            </a:r>
          </a:p>
          <a:p>
            <a:pPr/>
            <a:r>
              <a:rPr sz="850" b="0">
                <a:latin typeface="Consolas"/>
              </a:rPr>
              <a:t>            int m = sc.nextInt();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graph = new ArrayList&lt;&gt;();</a:t>
            </a:r>
          </a:p>
          <a:p>
            <a:pPr/>
            <a:r>
              <a:rPr sz="850" b="0">
                <a:latin typeface="Consolas"/>
              </a:rPr>
              <a:t>            for (int i = 0; i &lt; n; i++) {</a:t>
            </a:r>
          </a:p>
          <a:p>
            <a:pPr/>
            <a:r>
              <a:rPr sz="850" b="0">
                <a:latin typeface="Consolas"/>
              </a:rPr>
              <a:t>                graph.add(new ArrayList&lt;&gt;());</a:t>
            </a:r>
          </a:p>
          <a:p>
            <a:pPr/>
            <a:r>
              <a:rPr sz="850" b="0">
                <a:latin typeface="Consolas"/>
              </a:rPr>
              <a:t>            }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vis = new boolean[n];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for (int i = 0; i &lt; m; i++) {</a:t>
            </a:r>
          </a:p>
          <a:p>
            <a:pPr/>
            <a:r>
              <a:rPr sz="850" b="0">
                <a:latin typeface="Consolas"/>
              </a:rPr>
              <a:t>                int u = sc.nextInt();</a:t>
            </a:r>
          </a:p>
          <a:p>
            <a:pPr/>
            <a:r>
              <a:rPr sz="850" b="0">
                <a:latin typeface="Consolas"/>
              </a:rPr>
              <a:t>                int v = sc.nextInt();</a:t>
            </a:r>
          </a:p>
          <a:p>
            <a:pPr/>
            <a:r>
              <a:rPr sz="850" b="0">
                <a:latin typeface="Consolas"/>
              </a:rPr>
              <a:t>                graph.get(u).add(v);</a:t>
            </a:r>
          </a:p>
          <a:p>
            <a:pPr/>
            <a:r>
              <a:rPr sz="850" b="0">
                <a:latin typeface="Consolas"/>
              </a:rPr>
              <a:t>            }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bfs(0); // start from node 0</a:t>
            </a:r>
          </a:p>
          <a:p>
            <a:pPr/>
            <a:r>
              <a:rPr sz="850" b="0">
                <a:latin typeface="Consolas"/>
              </a:rPr>
              <a:t>        }</a:t>
            </a:r>
          </a:p>
          <a:p>
            <a:pPr/>
            <a:r>
              <a:rPr sz="850" b="0">
                <a:latin typeface="Consolas"/>
              </a:rPr>
              <a:t>    }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static void bfs(int start) {</a:t>
            </a:r>
          </a:p>
          <a:p>
            <a:pPr/>
            <a:r>
              <a:rPr sz="850" b="0">
                <a:latin typeface="Consolas"/>
              </a:rPr>
              <a:t>        Queue&lt;Integer&gt; q = new ArrayDeque&lt;&gt;();</a:t>
            </a:r>
          </a:p>
          <a:p>
            <a:pPr/>
            <a:r>
              <a:rPr sz="850" b="0">
                <a:latin typeface="Consolas"/>
              </a:rPr>
              <a:t>        q.add(start);</a:t>
            </a:r>
          </a:p>
          <a:p>
            <a:pPr/>
            <a:r>
              <a:rPr sz="850" b="0">
                <a:latin typeface="Consolas"/>
              </a:rPr>
              <a:t>        vis[start] = true;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while (!q.isEmpty()) {</a:t>
            </a:r>
          </a:p>
          <a:p>
            <a:pPr/>
            <a:r>
              <a:rPr sz="850" b="0">
                <a:latin typeface="Consolas"/>
              </a:rPr>
              <a:t>            int node = q.poll();</a:t>
            </a:r>
          </a:p>
          <a:p>
            <a:pPr/>
            <a:r>
              <a:rPr sz="850" b="0">
                <a:latin typeface="Consolas"/>
              </a:rPr>
              <a:t>            System.out.println("Processing node " + node);</a:t>
            </a:r>
          </a:p>
          <a:p>
            <a:pPr/>
            <a:r>
              <a:rPr sz="850" b="0">
                <a:latin typeface="Consolas"/>
              </a:rPr>
              <a:t/>
            </a:r>
          </a:p>
          <a:p>
            <a:pPr/>
            <a:r>
              <a:rPr sz="850" b="0">
                <a:latin typeface="Consolas"/>
              </a:rPr>
              <a:t>            for (int nei : graph.get(node)) {</a:t>
            </a:r>
          </a:p>
          <a:p>
            <a:pPr/>
            <a:r>
              <a:rPr sz="850" b="0">
                <a:latin typeface="Consolas"/>
              </a:rPr>
              <a:t>                if (!vis[nei]) {</a:t>
            </a:r>
          </a:p>
          <a:p>
            <a:pPr/>
            <a:r>
              <a:rPr sz="850" b="0">
                <a:latin typeface="Consolas"/>
              </a:rPr>
              <a:t>                    q.add(nei);</a:t>
            </a:r>
          </a:p>
          <a:p>
            <a:pPr/>
            <a:r>
              <a:rPr sz="850" b="0">
                <a:latin typeface="Consolas"/>
              </a:rPr>
              <a:t>                    vis[nei] = true;</a:t>
            </a:r>
          </a:p>
          <a:p>
            <a:pPr/>
            <a:r>
              <a:rPr sz="850" b="0">
                <a:latin typeface="Consolas"/>
              </a:rPr>
              <a:t>                }</a:t>
            </a:r>
          </a:p>
          <a:p>
            <a:pPr/>
            <a:r>
              <a:rPr sz="850" b="0">
                <a:latin typeface="Consolas"/>
              </a:rPr>
              <a:t>            }</a:t>
            </a:r>
          </a:p>
          <a:p>
            <a:pPr/>
            <a:r>
              <a:rPr sz="850" b="0">
                <a:latin typeface="Consolas"/>
              </a:rPr>
              <a:t>        }</a:t>
            </a:r>
          </a:p>
          <a:p>
            <a:pPr/>
            <a:r>
              <a:rPr sz="850" b="0">
                <a:latin typeface="Consolas"/>
              </a:rPr>
              <a:t>    }</a:t>
            </a:r>
          </a:p>
          <a:p>
            <a:pPr/>
            <a:r>
              <a:rPr sz="850" b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