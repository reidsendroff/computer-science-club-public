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400"/>
              <a:buFont typeface="Arial Black"/>
              <a:buNone/>
            </a:pPr>
            <a:r>
              <a:rPr b="1" lang="en-US" sz="44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Graph Algorithms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From Zero to Contest Ready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CS Club  •  Problem-Based Learning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2560320" y="3566160"/>
            <a:ext cx="402336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lang="en-US" sz="32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What Is a Graph?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57200" y="1097280"/>
            <a:ext cx="43891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graph is a collection of: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Char char="•"/>
            </a:pPr>
            <a:r>
              <a:rPr b="1" lang="en-US" sz="18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Nodes (vertices)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"things" — people, cities, pages, cells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Char char="•"/>
            </a:pPr>
            <a:r>
              <a:rPr b="1" lang="en-US" sz="18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Edges (connections)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"relationships" — friendships, roads, links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Graphs model relationships between things.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" name="Google Shape;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097280"/>
            <a:ext cx="384048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lang="en-US" sz="32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Representing Graphs in Code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97280"/>
            <a:ext cx="347472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4114800" y="1097280"/>
            <a:ext cx="4754880" cy="329184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4297680" y="11887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Python — Adjacency 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297680" y="1600200"/>
            <a:ext cx="438912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Build an adjacency 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graph = {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"A": ["B", "D"],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"B": ["A", "C", "D"],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"C": ["B", "E"],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"D": ["A", "B", "E"],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"E": ["C", "D"]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Or build dynamically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6C0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from collections import defaultdict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graph = defaultdict(list)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graph["A"].append("B")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Adjacency List: For each node, store its neighbors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lang="en-US" sz="32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Depth-First Search (DFS)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Arial"/>
              <a:buNone/>
            </a:pPr>
            <a:r>
              <a:rPr i="1" lang="en-US" sz="14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Go as deep as possible before backtracking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" name="Google Shape;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0" y="73152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365760" y="1371600"/>
            <a:ext cx="4389120" cy="310896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48640" y="1508760"/>
            <a:ext cx="40233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def dfs(node, visited, graph):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visited.add(node)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   print(node)  # process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for neighbor in graph[node]: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if neighbor not in visited: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    dfs(neighbor, visited,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        graph)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Start DFS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visited = set()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dfs("A", visited, graph)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Time: O(V + E)  •  Uses recursion (call stack)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lang="en-US" sz="32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Breadth-First Search (BFS)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400"/>
              <a:buFont typeface="Arial"/>
              <a:buNone/>
            </a:pPr>
            <a:r>
              <a:rPr i="1" lang="en-US" sz="1400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Explore level by level — finds shortest paths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0" y="73152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/>
          <p:nvPr/>
        </p:nvSpPr>
        <p:spPr>
          <a:xfrm>
            <a:off x="365760" y="1371600"/>
            <a:ext cx="4389120" cy="310896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548640" y="1463040"/>
            <a:ext cx="40233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6C0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from collections import deque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def bfs(start, graph):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visited = {start}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queue = deque([start])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while queue: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node = queue.popleft()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       print(node)  # process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for nbr in graph[node]: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    if nbr not in visited: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        visited.add(nbr)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        queue.append(nbr)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Time: O(V + E)  •  Uses a queue  •  Guarantees shortest path in unweighted graphs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lang="en-US" sz="32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DFS vs BFS — When to Use Which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640080" y="11430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DFS — Depth-First Search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Data structure: Stack / Recursion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Best for: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Exploring all paths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Connected components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Cycle detection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Topological sort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Backtracking problems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4937760" y="11430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BFS — Breadth-First Search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Data structure: Queue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Best for: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Shortest path (unweighted)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Level-order traversal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Minimum steps problems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Multi-source spreading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Rotting Oranges-style problems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lang="en-US" sz="32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Connected Components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Arial"/>
              <a:buNone/>
            </a:pPr>
            <a:r>
              <a:rPr i="1" lang="en-US" sz="140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Groups of nodes that can reach each other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0" y="914400"/>
            <a:ext cx="411480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9"/>
          <p:cNvSpPr/>
          <p:nvPr/>
        </p:nvSpPr>
        <p:spPr>
          <a:xfrm>
            <a:off x="365760" y="1371600"/>
            <a:ext cx="4206240" cy="29260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548640" y="1463040"/>
            <a:ext cx="38404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def count_components(graph, n):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visited = set()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count = 0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for node in range(n):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if node not in visited: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    dfs(node, visited, graph)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           count += 1  # new component!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return count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Key Insight: Each time you start a new DFS from an unvisited node, that's a new component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lang="en-US" sz="32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Trees — A Special Kind of Graph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0" y="73152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0"/>
          <p:cNvSpPr/>
          <p:nvPr/>
        </p:nvSpPr>
        <p:spPr>
          <a:xfrm>
            <a:off x="457200" y="914400"/>
            <a:ext cx="4114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tree is a graph with: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700"/>
              <a:buFont typeface="Calibri"/>
              <a:buChar char="•"/>
            </a:pPr>
            <a:r>
              <a:rPr b="1" lang="en-US" sz="1700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N nodes, N-1 edges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700"/>
              <a:buFont typeface="Calibri"/>
              <a:buChar char="•"/>
            </a:pPr>
            <a:r>
              <a:rPr b="1" lang="en-US" sz="1700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No cycles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700"/>
              <a:buFont typeface="Calibri"/>
              <a:buChar char="•"/>
            </a:pPr>
            <a:r>
              <a:rPr b="1" lang="en-US" sz="1700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Fully connected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700"/>
              <a:buFont typeface="Calibri"/>
              <a:buChar char="•"/>
            </a:pPr>
            <a:r>
              <a:rPr b="1" lang="en-US" sz="1700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Exactly one path between any two nodes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Why it matters in CP: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Trees show up everywhere — file systems, HTML, org charts, and dozens of contest problems every season.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lang="en-US" sz="32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Grids Are Graphs Too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Arial"/>
              <a:buNone/>
            </a:pPr>
            <a:r>
              <a:rPr i="1" lang="en-US" sz="140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LeetCode 200 — Number of Islands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32004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1"/>
          <p:cNvSpPr/>
          <p:nvPr/>
        </p:nvSpPr>
        <p:spPr>
          <a:xfrm>
            <a:off x="3931920" y="118872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Each cell = a node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Adjacent 1s = edges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Each island = connected component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Answer = number of components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3931920" y="2651760"/>
            <a:ext cx="4754880" cy="210312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4114800" y="2743200"/>
            <a:ext cx="43891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def numIslands(grid):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count = 0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for r in range(len(grid)):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for c in range(len(grid[0])):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if grid[r][c] == "1":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  dfs(grid, r, c)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    count += 1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return count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 islands — 3 colors — 3 DFS calls from unvisited land cells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lang="en-US" sz="32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Data Structures for Graphs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365760" y="1097280"/>
            <a:ext cx="2697480" cy="32004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365760" y="1097280"/>
            <a:ext cx="269748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502920" y="11430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set() — Visited Tracking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502920" y="1691640"/>
            <a:ext cx="2423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O(1) add and lookup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Track which nodes you've seen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Prevents infinite loops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3246120" y="1097280"/>
            <a:ext cx="2697480" cy="32004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3246120" y="1097280"/>
            <a:ext cx="269748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3383280" y="11430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deque() — BFS Queue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3383280" y="1691640"/>
            <a:ext cx="2423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O(1) popleft and append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First-In-First-Out (FIFO)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from collections import deque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6126480" y="1097280"/>
            <a:ext cx="2697480" cy="32004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6126480" y="1097280"/>
            <a:ext cx="269748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6263640" y="11430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dict / defaultdict — Graph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6263640" y="1691640"/>
            <a:ext cx="2423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Store adjacency lists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O(1) neighbor lookup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defaultdict(list) for building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lang="en-US" sz="32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Practice Problems — Start Here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548640" y="109728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LC #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1280160" y="10972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3657600" y="10972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Diff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4572000" y="10972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548640" y="1508760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733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1280160" y="15087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Flood Fill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3657600" y="1508760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Easy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4572000" y="150876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Basic DFS on grid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457200" y="1947672"/>
            <a:ext cx="8229600" cy="411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548640" y="1947672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1280160" y="194767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Number of Islands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3657600" y="1947672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4572000" y="1947672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DFS + connected components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457200" y="2386584"/>
            <a:ext cx="82296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548640" y="2386584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695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1280160" y="238658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Max Area of Island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3657600" y="2386584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4572000" y="2386584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DFS + tracking size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457200" y="2825496"/>
            <a:ext cx="8229600" cy="411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548640" y="2825496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994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1280160" y="2825496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Rotting Oranges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3657600" y="2825496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4572000" y="2825496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Multi-source BFS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457200" y="3264408"/>
            <a:ext cx="82296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548640" y="3264408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542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1280160" y="326440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01 Matrix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3657600" y="3264408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4572000" y="3264408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BFS shortest distance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457200" y="3703320"/>
            <a:ext cx="8229600" cy="411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548640" y="3703320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133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1280160" y="370332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Clone Graph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3657600" y="3703320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4572000" y="370332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Adjacency list traversal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457200" y="4142232"/>
            <a:ext cx="82296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548640" y="4142232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207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1280160" y="414223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Course Schedule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3657600" y="4142232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4572000" y="4142232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Cycle detection / topo sort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Start with Flood Fill. If you can solve that, you can solve Number of Islands. Then keep going.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Arial Black"/>
              <a:buNone/>
            </a:pPr>
            <a:r>
              <a:rPr b="1" lang="en-US" sz="36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Now Go Solve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1371600" y="1097280"/>
            <a:ext cx="6400800" cy="2103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1371600" y="1097280"/>
            <a:ext cx="64008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1554480" y="1234440"/>
            <a:ext cx="6035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VJudge Graph Competition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1554480" y="164592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400"/>
              <a:buFont typeface="Consolas"/>
              <a:buNone/>
            </a:pPr>
            <a:r>
              <a:rPr b="1" lang="en-US" sz="2400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vjudge.net/contest/796073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1828800" y="210312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Graph problems from today's lesson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Public leaderboard — compete against the club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00"/>
              <a:buFont typeface="Calibri"/>
              <a:buChar char="•"/>
            </a:pPr>
            <a:r>
              <a:rPr b="1" lang="en-US" sz="15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We're watching the leaderboard.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Arial Black"/>
              <a:buNone/>
            </a:pPr>
            <a:r>
              <a:rPr b="1" lang="en-US" sz="20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Contest Season Is Now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RUCP &amp; CALICO — April 11   •   CMIMC — April 18   •   PClassic — Late April   •   TSA States — May 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00"/>
              <a:buFont typeface="Arial"/>
              <a:buNone/>
            </a:pPr>
            <a:r>
              <a:rPr b="1" i="1" lang="en-US" sz="15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Graphs show up in every single one of these.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