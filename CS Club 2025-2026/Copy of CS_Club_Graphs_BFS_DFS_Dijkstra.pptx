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8325c7ed2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d8325c7ed2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8325c7ed2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8325c7ed2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d8325c7ed2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d8325c7ed2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8325c7ed2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d8325c7ed2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d8325c7ed2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8325c7ed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d8325c7ed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d8325c7ed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 Club — Graphs,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CALICO Review &amp; Java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BFS · DFS · Dijkstra · Competitive Programming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Northern Highlands CS Club  ·  April 21, 2026  ·  Reid, Max &amp;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Today's 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April 21,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74320" y="804672"/>
            <a:ext cx="8595360" cy="53035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74320" y="804672"/>
            <a:ext cx="457200" cy="53035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274320" y="80467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22960" y="841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CALICO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22960" y="107899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Walk through 3 problems from the contest — what they tested, how to solve them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74320" y="1389888"/>
            <a:ext cx="859536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74320" y="1389888"/>
            <a:ext cx="457200" cy="53035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74320" y="1389888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22960" y="142646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Java for 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22960" y="166420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Why we're standardizing on Java + the template you'll use in every contest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74320" y="1975104"/>
            <a:ext cx="8595360" cy="53035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274320" y="1975104"/>
            <a:ext cx="457200" cy="53035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274320" y="1975104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22960" y="20116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Graph Basics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22960" y="224942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What a graph is, adjacency lists, and how to represent one in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74320" y="2560320"/>
            <a:ext cx="859536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74320" y="2560320"/>
            <a:ext cx="457200" cy="53035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74320" y="256032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22960" y="259689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22960" y="283464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Depth First Search — recursive + iterative, connected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74320" y="3145536"/>
            <a:ext cx="8595360" cy="53035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274320" y="3145536"/>
            <a:ext cx="457200" cy="53035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74320" y="3145536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22960" y="31821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22960" y="3419856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Breadth First Search — shortest paths, grid traversal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74320" y="3730752"/>
            <a:ext cx="859536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74320" y="3730752"/>
            <a:ext cx="457200" cy="53035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274320" y="373075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822960" y="3767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22960" y="40050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Weighted shortest paths — the natural extension of BFS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CALICO Review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 problems · graph patterns · editorial walkthrough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CALICO Spring 2026 — How We Did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274320" y="822960"/>
            <a:ext cx="2011680" cy="18288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274320" y="822960"/>
            <a:ext cx="2011680" cy="7315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274320" y="10058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74320" y="20116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Total Problems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450592" y="822960"/>
            <a:ext cx="2011680" cy="18288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2450592" y="822960"/>
            <a:ext cx="2011680" cy="73152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450592" y="10058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~4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450592" y="20116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Club Average Solved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626864" y="822960"/>
            <a:ext cx="2011680" cy="18288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626864" y="822960"/>
            <a:ext cx="2011680" cy="73152"/>
          </a:xfrm>
          <a:prstGeom prst="rect">
            <a:avLst/>
          </a:prstGeom>
          <a:solidFill>
            <a:srgbClr val="38A169"/>
          </a:solidFill>
          <a:ln cap="flat" cmpd="sng" w="1270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626864" y="10058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38A169"/>
                </a:solidFill>
                <a:latin typeface="Calibri"/>
                <a:ea typeface="Calibri"/>
                <a:cs typeface="Calibri"/>
                <a:sym typeface="Calibri"/>
              </a:rPr>
              <a:t>8-9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626864" y="20116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 Team Solved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803136" y="822960"/>
            <a:ext cx="2011680" cy="18288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803136" y="822960"/>
            <a:ext cx="2011680" cy="7315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803136" y="10058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850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803136" y="20116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Total Teams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74320" y="2834640"/>
            <a:ext cx="8595360" cy="100584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48640" y="28346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gap between 4 and 9 problems solved is </a:t>
            </a: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one algorithm</a:t>
            </a: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 The problems that stumped the club required graph traversal — BFS and DFS. That's what we're fixing today.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3 of the 12 problems were directly solvable with BFS or DFS. We're walking through each 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Mycelium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🍄 Connected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74320" y="749808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38A169"/>
          </a:solidFill>
          <a:ln cap="flat" cmpd="sng" w="1270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274320" y="7498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BEGINNER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737360" y="749808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737360" y="7498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DFS / BFS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74320" y="1207008"/>
            <a:ext cx="5029200" cy="27432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57200" y="12801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57200" y="1627632"/>
            <a:ext cx="4663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are mapping an underground fungal network.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Given N fungi (nodes) and M connections (edges), determine how many isolated mushroom networks exist.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fungi are in the same network if there is a path of connections between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Input: N M on first line, then M lines each with u v (an undirected edge).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Output: The number of distinct connected components.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86400" y="1207008"/>
            <a:ext cx="3383280" cy="13716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57784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Example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577840" y="15087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5 3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1 2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4 5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0" y="2670048"/>
            <a:ext cx="3383280" cy="8229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577840" y="2697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6D364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577840" y="2971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86400" y="3584448"/>
            <a:ext cx="3383280" cy="82296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577840" y="3611880"/>
            <a:ext cx="32004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🔑 Key Insight: Count how many times you need to start a new DFS — each start = new component.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Nodes 1-2-3 are connected, nodes 4-5 are connected → 2 components. Node 5 is isolated if alone.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Mycelium — Java 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🍄 DFS Connected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java.io.*;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ArrayList&lt;Integer&gt;[] adj;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boolean[] visited;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void dfs(int node)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visited[node] = true;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neighbor : adj[node])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(!visited[neighbor]) dfs(neighbor);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throws IOException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BufferedReader br = new BufferedReader(new InputStreamReader(System.in));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StringTokenizer st = new StringTokenizer(br.readLine());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m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adj = new ArrayList[n + 1];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1; i &lt;= n; i++) adj[i] = new ArrayList&lt;&gt;();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visited = new boolean[n + 1];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 m; i++)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st = new StringTokenizer(br.readLine());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u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v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adj[u].add(v); adj[v].add(u);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components = 0;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1; i &lt;= n; i++)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(!visited[i]) { dfs(i); components++; }  // each unvisited start = new component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System.out.println(components);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Time: O(N + M)  ·  Space: O(N + M)  ·  The loop at the bottom is the key — count DFS starts.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Grid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🗺️ BFS Shortest 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74320" y="749808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274320" y="7498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828800" y="749808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828800" y="7498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74320" y="1207008"/>
            <a:ext cx="5029200" cy="27432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57200" y="12801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57200" y="1627632"/>
            <a:ext cx="4663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are given an R × C grid. Each cell is either open (.) or blocked (#).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Starting at the top-left cell (0, 0), find the minimum number of steps to reach the bottom-right cell (R-1, C-1).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can move up, down, left, or right — but not diagonally and not through walls.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Output the minimum steps, or -1 if it's impossible to reach.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0" y="1207008"/>
            <a:ext cx="3383280" cy="13716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57784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Example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577840" y="15087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4 4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.##.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0" y="2670048"/>
            <a:ext cx="3383280" cy="8229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577840" y="2697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6D364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577840" y="2971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0" y="3584448"/>
            <a:ext cx="3383280" cy="82296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577840" y="3611880"/>
            <a:ext cx="32004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🔑 Key Insight: BFS explores all cells at distance 1, then distance 2... so the first time you reach the destination it's the shortest path.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DFS would also reach the destination — but it won't give you the minimum steps. That's why this problem requires BFS.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Grid — Java 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🗺️ BFS on a 2D Grid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java.io.*;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throws IOException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BufferedReader br = new BufferedReader(new InputStreamReader(System.in));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StringTokenizer st = new StringTokenizer(br.readLine());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R = Integer.parseInt(st.nextToken()), C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char[][] grid = new char[R][C];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 R; i++) grid[i] = br.readLine().toCharArray();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int[][] dist = new int[R][C];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(int[] row : dist) Arrays.fill(row, -1);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int[][] dirs = {{0,1},{0,-1},{1,0},{-1,0}};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Queue&lt;int[]&gt; q = new LinkedList&lt;&gt;();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q.add(new int[]{0, 0}); dist[0][0] = 0;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while (!q.isEmpty())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int[] cur = q.poll();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r = cur[0], c = cur[1];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 (int[] d : dirs)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int nr = r + d[0], nc = c + d[1];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if (nr &gt;= 0 &amp;&amp; nr &lt; R &amp;&amp; nc &gt;= 0 &amp;&amp; nc &lt; 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&amp;&amp; grid[nr][nc] != '#' &amp;&amp; dist[nr][nc] == -1)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dist[nr][nc] = dist[r][c] + 1;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q.add(new int[]{nr, nc});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System.out.println(dist[R-1][C-1]);  // -1 if unreachable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Four directions array is a standard CP pattern. dist[r][c] == -1 means unvisited. Works on any grid size.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Splitters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📡 Directed Graph Reachability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274320" y="749808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274320" y="7498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828800" y="749808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1828800" y="7498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BFS / DFS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74320" y="1207008"/>
            <a:ext cx="5029200" cy="27432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457200" y="12801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57200" y="1627632"/>
            <a:ext cx="4663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signal starts at node 1 and "splits" — it travels along every outgoing directed edge to that node's neighbors.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Each node that receives the signal also splits it further to its own neighbors.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Given N nodes and M directed edges, count how many nodes (including node 1) receive the signal.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Note: Edges are one-directional — if node 1 → node 3 exists, the signal goes from 1 to 3, but NOT from 3 to 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486400" y="1207008"/>
            <a:ext cx="3383280" cy="13716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557784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Example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577840" y="15087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1 2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486400" y="2670048"/>
            <a:ext cx="3383280" cy="8229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5577840" y="2697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6D364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577840" y="2971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86400" y="3584448"/>
            <a:ext cx="3383280" cy="82296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5577840" y="3611880"/>
            <a:ext cx="32004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🔑 Key Insight: BFS/DFS from node 1 on a DIRECTED graph. DO NOT add reverse edges — direction matters 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1 → 2 → {3, 4}. All 4 nodes reachable. This is identical to Mycelium but directed — one line of code changes.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Splitters — Java 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📡 BFS on Directed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java.io.*;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throws IOException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BufferedReader br = new BufferedReader(new InputStreamReader(System.in));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StringTokenizer st = new StringTokenizer(br.readLine());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m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ArrayList&lt;Integer&gt;[] adj = new ArrayList[n + 1];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1; i &lt;= n; i++) adj[i] = new ArrayList&lt;&gt;();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 m; i++)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st = new StringTokenizer(br.readLine());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u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v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adj[u].add(v);          // DIRECTED: only u -&gt; v, NOT v -&gt; 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boolean[] visited = new boolean[n + 1];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Queue&lt;Integer&gt; queue = new LinkedList&lt;&gt;();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queue.add(1); visited[1] = true;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count = 0;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while (!queue.isEmpty())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node = queue.poll(); count++;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 (int neighbor : adj[node])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if (!visited[neighbor]) { visited[neighbor] = true; queue.add(neighbor);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System.out.println(count);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The only difference from undirected BFS: we DON'T add adj[v].add(u). One line removed = directed graph.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for C</a:t>
            </a: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ompetitive Programming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fast I/O · adjacency lists · the template you'll use forever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Java for Competitive Programming?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320040" y="804672"/>
            <a:ext cx="2011680" cy="539496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411480" y="850392"/>
            <a:ext cx="18288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2423160" y="804672"/>
            <a:ext cx="2103120" cy="539496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2514600" y="850392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617720" y="804672"/>
            <a:ext cx="2103120" cy="539496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4709160" y="850392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812280" y="804672"/>
            <a:ext cx="2103120" cy="539496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6903720" y="850392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C++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320040" y="1389888"/>
            <a:ext cx="2011680" cy="5394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411480" y="1435608"/>
            <a:ext cx="18288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2423160" y="1389888"/>
            <a:ext cx="2103120" cy="5394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2514600" y="1435608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❌ TLE often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617720" y="1389888"/>
            <a:ext cx="2103120" cy="539496"/>
          </a:xfrm>
          <a:prstGeom prst="rect">
            <a:avLst/>
          </a:prstGeom>
          <a:solidFill>
            <a:srgbClr val="EBF8FF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4709160" y="1435608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✅ Always fast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6812280" y="1389888"/>
            <a:ext cx="2103120" cy="5394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6903720" y="1435608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✅ Fastest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320040" y="1975104"/>
            <a:ext cx="2011680" cy="53949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411480" y="2020824"/>
            <a:ext cx="18288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Competitive Programming</a:t>
            </a: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Standard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2423160" y="1975104"/>
            <a:ext cx="2103120" cy="53949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2514600" y="2020824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Beginner 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4617720" y="1975104"/>
            <a:ext cx="2103120" cy="539496"/>
          </a:xfrm>
          <a:prstGeom prst="rect">
            <a:avLst/>
          </a:prstGeom>
          <a:solidFill>
            <a:srgbClr val="EBF8FF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4709160" y="2020824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Competitive 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812280" y="1975104"/>
            <a:ext cx="2103120" cy="53949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6903720" y="2020824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Elite 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320040" y="2560320"/>
            <a:ext cx="2011680" cy="5394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411480" y="2606040"/>
            <a:ext cx="18288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CSA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2423160" y="2560320"/>
            <a:ext cx="2103120" cy="5394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2514600" y="2606040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4617720" y="2560320"/>
            <a:ext cx="2103120" cy="539496"/>
          </a:xfrm>
          <a:prstGeom prst="rect">
            <a:avLst/>
          </a:prstGeom>
          <a:solidFill>
            <a:srgbClr val="EBF8FF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4709160" y="2606040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✅ You know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6812280" y="2560320"/>
            <a:ext cx="2103120" cy="5394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6903720" y="2606040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320040" y="3145536"/>
            <a:ext cx="2011680" cy="53949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411480" y="3191256"/>
            <a:ext cx="18288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You'll 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2423160" y="3145536"/>
            <a:ext cx="2103120" cy="53949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2514600" y="3191256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Already know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617720" y="3145536"/>
            <a:ext cx="2103120" cy="539496"/>
          </a:xfrm>
          <a:prstGeom prst="rect">
            <a:avLst/>
          </a:prstGeom>
          <a:solidFill>
            <a:srgbClr val="EBF8FF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4709160" y="3191256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812280" y="3145536"/>
            <a:ext cx="2103120" cy="53949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6903720" y="3191256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Next 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C++ is faster but Java is always fast enough. Half the room knows Java from AP CSA. Starting now is a head start.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Programming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Template — Copy This Forever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274320" y="749808"/>
            <a:ext cx="8595360" cy="37947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384048" y="1097280"/>
            <a:ext cx="8375904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java.io.*;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ArrayList&lt;Integer&gt;[] adj;   // adjacency list (1-indexed)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boolean[] visited;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throws IOException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BufferedReader br = new BufferedReader(new InputStreamReader(System.in));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PrintWriter out = new PrintWriter(new BufferedWriter(new OutputStreamWriter(System.out)));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StringTokenizer st;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st = new StringTokenizer(br.readLine());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 = Integer.parseInt(st.nextToken());  // nodes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m = Integer.parseInt(st.nextToken());  // edges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adj = new ArrayList[n + 1];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1; i &lt;= n; i++) adj[i] = new ArrayList&lt;&gt;();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visited = new boolean[n + 1];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 m; i++)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st = new StringTokenizer(br.readLine());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u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v = Integer.parseInt(st.nextToken());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adj[u].add(v); adj[v].add(u);   // remove second line for directed graph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your solution here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out.flush();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274320" y="4663440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457200" y="466344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BufferedReader + PrintWriter = fast I/O. StringTokenizer = fastest int parsing. 1-indexed = standard CP convention.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/>
          <p:nvPr/>
        </p:nvSpPr>
        <p:spPr>
          <a:xfrm>
            <a:off x="0" y="0"/>
            <a:ext cx="128100" cy="5143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411480" y="1463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411480" y="182880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DFS/BFS code explanation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nodes · edges · directed · weighted · adjacency lists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exploring a maze. At every fork, you pick one path and follow it as far as it goes — until you hit a dead end. Then you backtrack to the last fork and try the next path.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Mark current node as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Prevents infinite loops on graphs with cycles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Loop through all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 each neighbor not yet visited...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Recursively visit each neighbor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Go as deep as possible before coming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Backtrack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the recursive call returns, you're back at the 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dropping a stone into a pond. The ripple expands outward — first it reaches everything 1 step away, then 2 steps, then 3... BFS works exactly like that.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start node to queue, mark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Queue is FIFO — first in, first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Dequeue front node, process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This node is at the current distance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all unvisited neighbors to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They will be processed at distance + 1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Repeat until queue is empty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queue empties, all reachable nodes are visited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now 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understand 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DFS · BFS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1554480" y="2542032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Before Next Meeting: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1554480" y="2907792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T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ry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olve 3 practice problems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any website (leetcode, codeforces), and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submit in Java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1554480" y="3310128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Use the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programming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template for every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1554480" y="3712464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Check: usaco.guide/silver/graph-traversal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See you at the next meeting.  Let's build.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3E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Fundamentals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nodes · edges · directed · weighted · adjacency lists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Graph?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274320" y="804672"/>
            <a:ext cx="8595360" cy="80467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274320" y="804672"/>
            <a:ext cx="640080" cy="80467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274320" y="841248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1005840" y="85953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Node (Vertex)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1005840" y="113385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point in the graph. Could be a city, a person, a web page, or a fungi.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274320" y="1719072"/>
            <a:ext cx="85953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274320" y="1719072"/>
            <a:ext cx="640080" cy="80467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274320" y="1755648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➡️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1005840" y="177393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1005840" y="204825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connection between two nodes. Could be directed (one-way) or undirected (two-way).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274320" y="2633472"/>
            <a:ext cx="8595360" cy="80467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274320" y="2633472"/>
            <a:ext cx="640080" cy="80467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274320" y="2670048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1005840" y="268833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Weighted 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005840" y="296265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 edge with a number (cost, distance, time). Used in Dijkstra's algorithm.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274320" y="3547872"/>
            <a:ext cx="85953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274320" y="3547872"/>
            <a:ext cx="640080" cy="80467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274320" y="3584448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1005840" y="360273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Where graphs appear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1005840" y="387705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Maps, social networks, mazes, dependency trees, the internet, circuit boards.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Representations — Adjacency List vs Matrix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274320" y="777240"/>
            <a:ext cx="4114800" cy="329184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365760" y="79552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✅  Adjacency List  ← Use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457200" y="1280160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▸  ArrayList&lt;Integer&gt;[] adj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457200" y="1755648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Space: O(N + 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457200" y="2231136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Iterate neighbors: O(degree)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457200" y="2706624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Standard for sparse graphs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457200" y="318211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Standard for ALL CP problems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4754880" y="777240"/>
            <a:ext cx="4114800" cy="329184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4846320" y="79552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Adjacency Matrix  ← Rare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4937760" y="1280160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▸  int[][] 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4937760" y="1755648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Space: O(N²)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4937760" y="2231136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Edge lookup: O(1)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4937760" y="2706624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Only for dense graphs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4937760" y="318211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 Rarely needed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Default to adjacency list for every problem until you have a specific reason to use a matrix.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Adjacency List in Java — Building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274320" y="749808"/>
            <a:ext cx="8595360" cy="31089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384048" y="1097280"/>
            <a:ext cx="837590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Create adjacency list for n nodes (1-indexed)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ArrayList&lt;Integer&gt;[] adj = new ArrayList[n + 1];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&lt;= n; i++) adj[i] = new ArrayList&lt;&gt;();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Add an undirected edge between u and 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adj[u].add(v);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adj[v].add(u);   // remove this line for directed graph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Add a weighted edge (store as int[]{neighbor, weight})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ArrayList&lt;int[]&gt;[] adjW = new ArrayList[n + 1];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&lt;= n; i++) adjW[i] = new ArrayList&lt;&gt;();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adjW[u].add(new int[]{v, weight});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adjW[v].add(new int[]{u, weight});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Iterate all neighbors of node 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(int neighbor : adj[x])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// do something with neighbor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411480" y="3941064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1-indexed: adj[1] to adj[n]. adj[0] is unused — avoids off-by-one errors.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411480" y="4288536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Undirected = add both directions. Directed = add only adj[u].add(v).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411480" y="4636008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Weighted graphs store int[] {neighbor, weight} instead of just int neighbor.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3E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5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6D364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Depth First Search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go deep before going wide · stack · recursive + iterative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6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exploring a maze. At every fork, you pick one path and follow it as far as it goes — until you hit a dead end. Then you backtrack to the last fork and try the next path.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274320" y="1554480"/>
            <a:ext cx="8595360" cy="7132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>
            <a:off x="347472" y="1719072"/>
            <a:ext cx="384048" cy="384048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/>
          <p:nvPr/>
        </p:nvSpPr>
        <p:spPr>
          <a:xfrm>
            <a:off x="347472" y="17190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868680" y="16093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Mark current node as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868680" y="1901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Prevents infinite loops on graphs with cycles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274320" y="2359152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347472" y="2523744"/>
            <a:ext cx="384048" cy="384048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347472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868680" y="24140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Loop through all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868680" y="2706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 each neighbor not yet visited...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347472" y="3328416"/>
            <a:ext cx="384048" cy="384048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6"/>
          <p:cNvSpPr/>
          <p:nvPr/>
        </p:nvSpPr>
        <p:spPr>
          <a:xfrm>
            <a:off x="347472" y="33284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868680" y="32186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Recursively visit each neighbor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868680" y="35112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Go as deep as possible before coming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274320" y="3968496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6"/>
          <p:cNvSpPr/>
          <p:nvPr/>
        </p:nvSpPr>
        <p:spPr>
          <a:xfrm>
            <a:off x="347472" y="4133088"/>
            <a:ext cx="384048" cy="384048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347472" y="4133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868680" y="40233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Backtrack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868680" y="431596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the recursive call returns, you're back at the 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Recursive Implementation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274320" y="749808"/>
            <a:ext cx="8595360" cy="32004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384048" y="1097280"/>
            <a:ext cx="837590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static void dfs(int node)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visited[node] = true;              // mark as visited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neighbor : adj[node])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(!visited[neighbor]) {      // only visit unvisited nodes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dfs(neighbor);             // recursive call — goes deep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// when we reach here, all paths from 'node' have been explored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Call it from main: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&lt;= n; i++)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if (!visited[i])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dfs(i);    // start a new DFS from any unvisited 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274320" y="4069080"/>
            <a:ext cx="411480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411480" y="4096512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⚠️ Stack Overflow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For graphs with N &gt; ~10,000 nodes, recursion may hit Java's stack limit. Use the iterative version instead.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4663440" y="4069080"/>
            <a:ext cx="4206240" cy="82296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4800600" y="4096512"/>
            <a:ext cx="3931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✅ Best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Small-medium graphs. Problems asking: does a path exist? How many components? Cycle detection?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8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Iterative Implementation (Stack)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8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8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8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static void dfsIterative(int start)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Stack&lt;Integer&gt; stack = new Stack&lt;&gt;();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stack.push(start);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visited[start] = true;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(!stack.isEmpty())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node = stack.pop();             // take from TOP of stack (LIFO)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neighbor : adj[node])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(!visited[neighbor])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visited[neighbor] = true;   // mark visited BEFORE pushing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stack.push(neighbor);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Key difference from BFS: Stack (LIFO) instead of Queue (FIFO)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Stack.pop() goes deep; Queue.poll() goes wide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Rule: mark visited WHEN you push, not when you pop — prevents the same node being pushed multiple times.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Application — Connected Components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274320" y="749808"/>
            <a:ext cx="5120640" cy="31089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9"/>
          <p:cNvSpPr/>
          <p:nvPr/>
        </p:nvSpPr>
        <p:spPr>
          <a:xfrm>
            <a:off x="384048" y="1097280"/>
            <a:ext cx="490118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Count distinct connected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int components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&lt;= n; i++)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if (!visited[i])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dfs(i);        // explore entire component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components++;  // one more component found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System.out.println(components);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Assign component ID to each node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int[] compId = new int[n + 1];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int id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&lt;= n; i++)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if (!visited[i])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dfs(i, ++id, compId);  // label this component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5577840" y="749808"/>
            <a:ext cx="3291840" cy="310896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9"/>
          <p:cNvSpPr/>
          <p:nvPr/>
        </p:nvSpPr>
        <p:spPr>
          <a:xfrm>
            <a:off x="5669280" y="8229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Where This Pattern Shows 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5669280" y="1280160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🍄 Mycelium (CALICO) — count isolated fungal networks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5669280" y="1755648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🏝️ Island counting — how many islands in a grid?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5669280" y="2231136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👥 Social networks — how many friend groups?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5669280" y="2706624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🧩 Puzzle solver — are all pieces connected?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/>
          <p:nvPr/>
        </p:nvSpPr>
        <p:spPr>
          <a:xfrm>
            <a:off x="5669280" y="3182112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🗺️ Map coloring — which cities are in the same region?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9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9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The outer for-loop is the key insight. Each time we start a new DFS on an unvisited node, we've found a new component.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When To Use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0"/>
          <p:cNvSpPr/>
          <p:nvPr/>
        </p:nvSpPr>
        <p:spPr>
          <a:xfrm>
            <a:off x="274320" y="804672"/>
            <a:ext cx="4206240" cy="11704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0"/>
          <p:cNvSpPr/>
          <p:nvPr/>
        </p:nvSpPr>
        <p:spPr>
          <a:xfrm>
            <a:off x="365760" y="896112"/>
            <a:ext cx="6400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1051560" y="9144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Path Existence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1051560" y="1261872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a path exist between node A and node B?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274320" y="2103120"/>
            <a:ext cx="4206240" cy="11704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0"/>
          <p:cNvSpPr/>
          <p:nvPr/>
        </p:nvSpPr>
        <p:spPr>
          <a:xfrm>
            <a:off x="365760" y="2194560"/>
            <a:ext cx="6400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0"/>
          <p:cNvSpPr/>
          <p:nvPr/>
        </p:nvSpPr>
        <p:spPr>
          <a:xfrm>
            <a:off x="1051560" y="221284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Connected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1051560" y="256032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many isolated regions or groups are there?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274320" y="3401568"/>
            <a:ext cx="4206240" cy="11704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"/>
          <p:cNvSpPr/>
          <p:nvPr/>
        </p:nvSpPr>
        <p:spPr>
          <a:xfrm>
            <a:off x="365760" y="3493008"/>
            <a:ext cx="6400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0"/>
          <p:cNvSpPr/>
          <p:nvPr/>
        </p:nvSpPr>
        <p:spPr>
          <a:xfrm>
            <a:off x="1051560" y="3511296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Cycle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1051560" y="3858768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the graph contain any cycles? (revisit = cycle)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4709160" y="804672"/>
            <a:ext cx="4206240" cy="11704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4800600" y="896112"/>
            <a:ext cx="6400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5486400" y="9144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Topological Sort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5486400" y="1261872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Order tasks so all dependencies come first (DAGs only)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/>
          <p:nvPr/>
        </p:nvSpPr>
        <p:spPr>
          <a:xfrm>
            <a:off x="4709160" y="2103120"/>
            <a:ext cx="4206240" cy="11704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4800600" y="2194560"/>
            <a:ext cx="6400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🌳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0"/>
          <p:cNvSpPr/>
          <p:nvPr/>
        </p:nvSpPr>
        <p:spPr>
          <a:xfrm>
            <a:off x="5486400" y="221284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Tree Problems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5486400" y="256032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DFS is natural on trees — height, diameter, subtree sums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3E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Breadth First Search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level by level · queue · shortest paths guaranteed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dropping a stone into a pond. The ripple expands outward — first it reaches everything 1 step away, then 2 steps, then 3... BFS works exactly like that.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274320" y="1554480"/>
            <a:ext cx="8595360" cy="7132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2"/>
          <p:cNvSpPr/>
          <p:nvPr/>
        </p:nvSpPr>
        <p:spPr>
          <a:xfrm>
            <a:off x="347472" y="1719072"/>
            <a:ext cx="384048" cy="384048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2"/>
          <p:cNvSpPr/>
          <p:nvPr/>
        </p:nvSpPr>
        <p:spPr>
          <a:xfrm>
            <a:off x="347472" y="17190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2"/>
          <p:cNvSpPr/>
          <p:nvPr/>
        </p:nvSpPr>
        <p:spPr>
          <a:xfrm>
            <a:off x="868680" y="16093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start node to queue, mark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868680" y="1901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Queue is FIFO — first in, first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2"/>
          <p:cNvSpPr/>
          <p:nvPr/>
        </p:nvSpPr>
        <p:spPr>
          <a:xfrm>
            <a:off x="274320" y="2359152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2"/>
          <p:cNvSpPr/>
          <p:nvPr/>
        </p:nvSpPr>
        <p:spPr>
          <a:xfrm>
            <a:off x="347472" y="2523744"/>
            <a:ext cx="384048" cy="384048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2"/>
          <p:cNvSpPr/>
          <p:nvPr/>
        </p:nvSpPr>
        <p:spPr>
          <a:xfrm>
            <a:off x="347472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2"/>
          <p:cNvSpPr/>
          <p:nvPr/>
        </p:nvSpPr>
        <p:spPr>
          <a:xfrm>
            <a:off x="868680" y="241401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Dequeue front node, process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2"/>
          <p:cNvSpPr/>
          <p:nvPr/>
        </p:nvSpPr>
        <p:spPr>
          <a:xfrm>
            <a:off x="868680" y="27066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This node is at the current distance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2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2"/>
          <p:cNvSpPr/>
          <p:nvPr/>
        </p:nvSpPr>
        <p:spPr>
          <a:xfrm>
            <a:off x="347472" y="3328416"/>
            <a:ext cx="384048" cy="384048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2"/>
          <p:cNvSpPr/>
          <p:nvPr/>
        </p:nvSpPr>
        <p:spPr>
          <a:xfrm>
            <a:off x="347472" y="33284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868680" y="32186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all unvisited neighbors to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/>
          <p:nvPr/>
        </p:nvSpPr>
        <p:spPr>
          <a:xfrm>
            <a:off x="868680" y="35112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They will be processed at distance + 1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2"/>
          <p:cNvSpPr/>
          <p:nvPr/>
        </p:nvSpPr>
        <p:spPr>
          <a:xfrm>
            <a:off x="274320" y="3968496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2"/>
          <p:cNvSpPr/>
          <p:nvPr/>
        </p:nvSpPr>
        <p:spPr>
          <a:xfrm>
            <a:off x="347472" y="4133088"/>
            <a:ext cx="384048" cy="384048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2"/>
          <p:cNvSpPr/>
          <p:nvPr/>
        </p:nvSpPr>
        <p:spPr>
          <a:xfrm>
            <a:off x="347472" y="4133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868680" y="40233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Repeat until queue is empty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868680" y="431596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queue empties, all reachable nodes are visited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3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 — Code with Distance Tracking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3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3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3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3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static int[] bfs(int start, int n)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int[] dist = new int[n + 1];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Arrays.fill(dist, -1);          // -1 = unvisited / unreachable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Queue&lt;Integer&gt; queue = new LinkedList&lt;&gt;();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queue.add(start);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dist[start] = 0;                // distance from start to itself =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(!queue.isEmpty())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node = queue.poll();    // dequeue front (FIFO)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neighbor : adj[node])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(dist[neighbor] == -1) {          // not yet visited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dist[neighbor] = dist[node] + 1; // one step further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queue.add(neighbor);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dist;  // dist[v] = shortest path from start to v, or -1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3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3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dist[v] == -1 after BFS means v is unreachable from start. Otherwise dist[v] is the guaranteed shortest path.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4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 on Grids — The Most Common Pattern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274320" y="749808"/>
            <a:ext cx="8595360" cy="32004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4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4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4"/>
          <p:cNvSpPr/>
          <p:nvPr/>
        </p:nvSpPr>
        <p:spPr>
          <a:xfrm>
            <a:off x="384048" y="1097280"/>
            <a:ext cx="837590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Standard grid BFS template — works for any maze/grid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int[][] dirs = {{0,1},{0,-1},{1,0},{-1,0}};   // right, left, down, 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int[][] dist = new int[rows][cols];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for (int[] row : dist) Arrays.fill(row, -1);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Queue&lt;int[]&gt; q = new LinkedList&lt;&gt;();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q.add(new int[]{startR, startC});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dist[startR][startC]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while (!q.isEmpty())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int[] cur = q.poll();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int r = cur[0], c = cur[1];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(int[] d : dirs)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nr = r + d[0], nc = c + d[1];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(nr &gt;= 0 &amp;&amp; nr &lt; rows &amp;&amp; nc &gt;= 0 &amp;&amp; nc &lt; cols    // in bounds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&amp;&amp; grid[nr][nc] != '#'                           // not a wall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&amp;&amp; dist[nr][nc] == -1) {                        // not visited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dist[nr][nc] = dist[r][c] + 1;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q.add(new int[]{nr, nc});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4"/>
          <p:cNvSpPr/>
          <p:nvPr/>
        </p:nvSpPr>
        <p:spPr>
          <a:xfrm>
            <a:off x="457200" y="406908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This template solves: Grid (CALICO), maze problems, island problems, flood fill, minimum steps in any 2D map.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5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5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vs BFS — Decision Framework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228600" y="74980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3154680" y="749808"/>
            <a:ext cx="1280160" cy="1261872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3154680" y="749808"/>
            <a:ext cx="1280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338328" y="841248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"Minimum steps / shortest path?"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338328" y="1335024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BFS guarantees shortest path. DFS does not.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228600" y="2139696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5"/>
          <p:cNvSpPr/>
          <p:nvPr/>
        </p:nvSpPr>
        <p:spPr>
          <a:xfrm>
            <a:off x="3154680" y="2139696"/>
            <a:ext cx="1280160" cy="1261872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5"/>
          <p:cNvSpPr/>
          <p:nvPr/>
        </p:nvSpPr>
        <p:spPr>
          <a:xfrm>
            <a:off x="3154680" y="2139696"/>
            <a:ext cx="1280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338328" y="2231136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"Does a path exist?"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5"/>
          <p:cNvSpPr/>
          <p:nvPr/>
        </p:nvSpPr>
        <p:spPr>
          <a:xfrm>
            <a:off x="338328" y="272491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Either works but DFS is simpler to write.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5"/>
          <p:cNvSpPr/>
          <p:nvPr/>
        </p:nvSpPr>
        <p:spPr>
          <a:xfrm>
            <a:off x="228600" y="3529584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3154680" y="3529584"/>
            <a:ext cx="1280160" cy="1261872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5"/>
          <p:cNvSpPr/>
          <p:nvPr/>
        </p:nvSpPr>
        <p:spPr>
          <a:xfrm>
            <a:off x="3154680" y="3529584"/>
            <a:ext cx="1280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338328" y="3621024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"How many components / regions?"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338328" y="411480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Count DFS starts = count components.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4663440" y="74980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5"/>
          <p:cNvSpPr/>
          <p:nvPr/>
        </p:nvSpPr>
        <p:spPr>
          <a:xfrm>
            <a:off x="7589520" y="749808"/>
            <a:ext cx="1280160" cy="1261872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5"/>
          <p:cNvSpPr/>
          <p:nvPr/>
        </p:nvSpPr>
        <p:spPr>
          <a:xfrm>
            <a:off x="7589520" y="749808"/>
            <a:ext cx="1280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4773168" y="841248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"Cycle detection?"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4773168" y="1335024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Track back-edges naturally in DFS.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4663440" y="2139696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5"/>
          <p:cNvSpPr/>
          <p:nvPr/>
        </p:nvSpPr>
        <p:spPr>
          <a:xfrm>
            <a:off x="7589520" y="2139696"/>
            <a:ext cx="1280160" cy="1261872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5"/>
          <p:cNvSpPr/>
          <p:nvPr/>
        </p:nvSpPr>
        <p:spPr>
          <a:xfrm>
            <a:off x="7589520" y="2139696"/>
            <a:ext cx="1280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4773168" y="2231136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"Grid maze with min moves?"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4773168" y="272491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Grid BFS template — always shortest.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4663440" y="3529584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5"/>
          <p:cNvSpPr/>
          <p:nvPr/>
        </p:nvSpPr>
        <p:spPr>
          <a:xfrm>
            <a:off x="7589520" y="3529584"/>
            <a:ext cx="1280160" cy="1261872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5"/>
          <p:cNvSpPr/>
          <p:nvPr/>
        </p:nvSpPr>
        <p:spPr>
          <a:xfrm>
            <a:off x="7589520" y="3529584"/>
            <a:ext cx="1280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5"/>
          <p:cNvSpPr/>
          <p:nvPr/>
        </p:nvSpPr>
        <p:spPr>
          <a:xfrm>
            <a:off x="4773168" y="3621024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"Topological sort?"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4773168" y="411480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DFS produces reverse topological order.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3E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6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6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Dijkstra's Algorithm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weighted shortest path · priority queue · the next step after BFS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7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7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BFS finds the shortest path when all edges cost 1. Dijkstra finds the shortest path when edges have different weights (costs, distances, times). Instead of a regular queue, it uses a priority queue — always process the nearest unvisited node first.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274320" y="1664208"/>
            <a:ext cx="8595360" cy="58521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7"/>
          <p:cNvSpPr/>
          <p:nvPr/>
        </p:nvSpPr>
        <p:spPr>
          <a:xfrm>
            <a:off x="347472" y="1764792"/>
            <a:ext cx="365760" cy="365760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7"/>
          <p:cNvSpPr/>
          <p:nvPr/>
        </p:nvSpPr>
        <p:spPr>
          <a:xfrm>
            <a:off x="347472" y="17647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/>
          <p:cNvSpPr/>
          <p:nvPr/>
        </p:nvSpPr>
        <p:spPr>
          <a:xfrm>
            <a:off x="822960" y="170078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Set dist[start] = 0, all others = 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7"/>
          <p:cNvSpPr/>
          <p:nvPr/>
        </p:nvSpPr>
        <p:spPr>
          <a:xfrm>
            <a:off x="822960" y="1975104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We know nothing yet — assume everything is unreachable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7"/>
          <p:cNvSpPr/>
          <p:nvPr/>
        </p:nvSpPr>
        <p:spPr>
          <a:xfrm>
            <a:off x="274320" y="2322576"/>
            <a:ext cx="8595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7"/>
          <p:cNvSpPr/>
          <p:nvPr/>
        </p:nvSpPr>
        <p:spPr>
          <a:xfrm>
            <a:off x="347472" y="2423160"/>
            <a:ext cx="365760" cy="365760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7"/>
          <p:cNvSpPr/>
          <p:nvPr/>
        </p:nvSpPr>
        <p:spPr>
          <a:xfrm>
            <a:off x="347472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7"/>
          <p:cNvSpPr/>
          <p:nvPr/>
        </p:nvSpPr>
        <p:spPr>
          <a:xfrm>
            <a:off x="822960" y="23591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start to priority queue with priority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7"/>
          <p:cNvSpPr/>
          <p:nvPr/>
        </p:nvSpPr>
        <p:spPr>
          <a:xfrm>
            <a:off x="822960" y="263347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PQ always gives us the node with current minimum distance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7"/>
          <p:cNvSpPr/>
          <p:nvPr/>
        </p:nvSpPr>
        <p:spPr>
          <a:xfrm>
            <a:off x="274320" y="2980944"/>
            <a:ext cx="8595360" cy="58521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347472" y="3081528"/>
            <a:ext cx="365760" cy="365760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7"/>
          <p:cNvSpPr/>
          <p:nvPr/>
        </p:nvSpPr>
        <p:spPr>
          <a:xfrm>
            <a:off x="347472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7"/>
          <p:cNvSpPr/>
          <p:nvPr/>
        </p:nvSpPr>
        <p:spPr>
          <a:xfrm>
            <a:off x="822960" y="30175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Dequeue node with smallest distance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822960" y="3291840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Greedy choice — commit to the cheapest known path so far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7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7"/>
          <p:cNvSpPr/>
          <p:nvPr/>
        </p:nvSpPr>
        <p:spPr>
          <a:xfrm>
            <a:off x="347472" y="3739896"/>
            <a:ext cx="365760" cy="365760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7"/>
          <p:cNvSpPr/>
          <p:nvPr/>
        </p:nvSpPr>
        <p:spPr>
          <a:xfrm>
            <a:off x="347472" y="37398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7"/>
          <p:cNvSpPr/>
          <p:nvPr/>
        </p:nvSpPr>
        <p:spPr>
          <a:xfrm>
            <a:off x="822960" y="3675888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Relax all outgoing edges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822960" y="395020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dist[node] + weight &lt; dist[neighbor], update dist[neighbor]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7"/>
          <p:cNvSpPr/>
          <p:nvPr/>
        </p:nvSpPr>
        <p:spPr>
          <a:xfrm>
            <a:off x="274320" y="4297680"/>
            <a:ext cx="8595360" cy="585216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7"/>
          <p:cNvSpPr/>
          <p:nvPr/>
        </p:nvSpPr>
        <p:spPr>
          <a:xfrm>
            <a:off x="347472" y="4398264"/>
            <a:ext cx="365760" cy="365760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7"/>
          <p:cNvSpPr/>
          <p:nvPr/>
        </p:nvSpPr>
        <p:spPr>
          <a:xfrm>
            <a:off x="347472" y="43982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7"/>
          <p:cNvSpPr/>
          <p:nvPr/>
        </p:nvSpPr>
        <p:spPr>
          <a:xfrm>
            <a:off x="822960" y="4334256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Skip if already finalized (lazy deletion)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7"/>
          <p:cNvSpPr/>
          <p:nvPr/>
        </p:nvSpPr>
        <p:spPr>
          <a:xfrm>
            <a:off x="822960" y="4608576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dist in PQ &gt; current dist[node], it's stale — skip 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8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8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 — Java Implementation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8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8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8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8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8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// adjW[u] = list of int[]{v, weight} — weighted adjacency 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static long[] dijkstra(int start, int n)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long[] dist = new long[n + 1];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Arrays.fill(dist, Long.MAX_VALUE);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dist[start]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// Priority queue: [distance, node] — sorted by distance (smallest first)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PriorityQueue&lt;long[]&gt; pq = new PriorityQueue&lt;&gt;(Comparator.comparingLong(a -&gt; a[0]));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pq.offer(new long[]{0, start});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(!pq.isEmpty())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long[] cur = pq.poll();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long d = cur[0]; int node = (int) cur[1];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(d &gt; dist[node]) continue;   // stale entry (lazy deletion) — skip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(int[] edge : adjW[node])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next = edge[0]; long w = edge[1];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(dist[node] + w &lt; dist[next])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dist[next] = dist[node] + w;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pq.offer(new long[]{dist[next], next});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dist;   // dist[v] = shortest distance from start to 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8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8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Use long not int for distances — weights can be large and overflow int. Long.MAX_VALUE = ∞. Lazy deletion = if (d &gt; dist[node]) continue.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9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9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 — When To Use It + Algorithm Comparison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9"/>
          <p:cNvSpPr/>
          <p:nvPr/>
        </p:nvSpPr>
        <p:spPr>
          <a:xfrm>
            <a:off x="274320" y="804672"/>
            <a:ext cx="1920240" cy="512064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9"/>
          <p:cNvSpPr/>
          <p:nvPr/>
        </p:nvSpPr>
        <p:spPr>
          <a:xfrm>
            <a:off x="365760" y="84124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9"/>
          <p:cNvSpPr/>
          <p:nvPr/>
        </p:nvSpPr>
        <p:spPr>
          <a:xfrm>
            <a:off x="2286000" y="804672"/>
            <a:ext cx="2103120" cy="512064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9"/>
          <p:cNvSpPr/>
          <p:nvPr/>
        </p:nvSpPr>
        <p:spPr>
          <a:xfrm>
            <a:off x="2377440" y="84124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9"/>
          <p:cNvSpPr/>
          <p:nvPr/>
        </p:nvSpPr>
        <p:spPr>
          <a:xfrm>
            <a:off x="4480560" y="804672"/>
            <a:ext cx="2103120" cy="512064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9"/>
          <p:cNvSpPr/>
          <p:nvPr/>
        </p:nvSpPr>
        <p:spPr>
          <a:xfrm>
            <a:off x="4572000" y="84124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9"/>
          <p:cNvSpPr/>
          <p:nvPr/>
        </p:nvSpPr>
        <p:spPr>
          <a:xfrm>
            <a:off x="6675120" y="804672"/>
            <a:ext cx="2377440" cy="512064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9"/>
          <p:cNvSpPr/>
          <p:nvPr/>
        </p:nvSpPr>
        <p:spPr>
          <a:xfrm>
            <a:off x="6766560" y="84124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274320" y="1353312"/>
            <a:ext cx="192024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9"/>
          <p:cNvSpPr/>
          <p:nvPr/>
        </p:nvSpPr>
        <p:spPr>
          <a:xfrm>
            <a:off x="365760" y="138988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Edge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2286000" y="1353312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9"/>
          <p:cNvSpPr/>
          <p:nvPr/>
        </p:nvSpPr>
        <p:spPr>
          <a:xfrm>
            <a:off x="2377440" y="138988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9"/>
          <p:cNvSpPr/>
          <p:nvPr/>
        </p:nvSpPr>
        <p:spPr>
          <a:xfrm>
            <a:off x="4480560" y="1353312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9"/>
          <p:cNvSpPr/>
          <p:nvPr/>
        </p:nvSpPr>
        <p:spPr>
          <a:xfrm>
            <a:off x="4572000" y="138988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equal 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9"/>
          <p:cNvSpPr/>
          <p:nvPr/>
        </p:nvSpPr>
        <p:spPr>
          <a:xfrm>
            <a:off x="6675120" y="1353312"/>
            <a:ext cx="2377440" cy="512064"/>
          </a:xfrm>
          <a:prstGeom prst="rect">
            <a:avLst/>
          </a:prstGeom>
          <a:solidFill>
            <a:srgbClr val="F3EE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9"/>
          <p:cNvSpPr/>
          <p:nvPr/>
        </p:nvSpPr>
        <p:spPr>
          <a:xfrm>
            <a:off x="6766560" y="138988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Any positive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9"/>
          <p:cNvSpPr/>
          <p:nvPr/>
        </p:nvSpPr>
        <p:spPr>
          <a:xfrm>
            <a:off x="274320" y="1901952"/>
            <a:ext cx="1920240" cy="51206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9"/>
          <p:cNvSpPr/>
          <p:nvPr/>
        </p:nvSpPr>
        <p:spPr>
          <a:xfrm>
            <a:off x="365760" y="193852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Shortest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2286000" y="1901952"/>
            <a:ext cx="2103120" cy="51206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9"/>
          <p:cNvSpPr/>
          <p:nvPr/>
        </p:nvSpPr>
        <p:spPr>
          <a:xfrm>
            <a:off x="2377440" y="193852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9"/>
          <p:cNvSpPr/>
          <p:nvPr/>
        </p:nvSpPr>
        <p:spPr>
          <a:xfrm>
            <a:off x="4480560" y="1901952"/>
            <a:ext cx="2103120" cy="51206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9"/>
          <p:cNvSpPr/>
          <p:nvPr/>
        </p:nvSpPr>
        <p:spPr>
          <a:xfrm>
            <a:off x="4572000" y="193852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✅ Unweighted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9"/>
          <p:cNvSpPr/>
          <p:nvPr/>
        </p:nvSpPr>
        <p:spPr>
          <a:xfrm>
            <a:off x="6675120" y="1901952"/>
            <a:ext cx="2377440" cy="512064"/>
          </a:xfrm>
          <a:prstGeom prst="rect">
            <a:avLst/>
          </a:prstGeom>
          <a:solidFill>
            <a:srgbClr val="F3EE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9"/>
          <p:cNvSpPr/>
          <p:nvPr/>
        </p:nvSpPr>
        <p:spPr>
          <a:xfrm>
            <a:off x="6766560" y="193852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✅ Weighted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9"/>
          <p:cNvSpPr/>
          <p:nvPr/>
        </p:nvSpPr>
        <p:spPr>
          <a:xfrm>
            <a:off x="274320" y="2450592"/>
            <a:ext cx="192024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9"/>
          <p:cNvSpPr/>
          <p:nvPr/>
        </p:nvSpPr>
        <p:spPr>
          <a:xfrm>
            <a:off x="365760" y="248716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2286000" y="2450592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9"/>
          <p:cNvSpPr/>
          <p:nvPr/>
        </p:nvSpPr>
        <p:spPr>
          <a:xfrm>
            <a:off x="2377440" y="248716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Stack (recursion)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9"/>
          <p:cNvSpPr/>
          <p:nvPr/>
        </p:nvSpPr>
        <p:spPr>
          <a:xfrm>
            <a:off x="4480560" y="2450592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9"/>
          <p:cNvSpPr/>
          <p:nvPr/>
        </p:nvSpPr>
        <p:spPr>
          <a:xfrm>
            <a:off x="4572000" y="248716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Queue (FIFO)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9"/>
          <p:cNvSpPr/>
          <p:nvPr/>
        </p:nvSpPr>
        <p:spPr>
          <a:xfrm>
            <a:off x="6675120" y="2450592"/>
            <a:ext cx="2377440" cy="512064"/>
          </a:xfrm>
          <a:prstGeom prst="rect">
            <a:avLst/>
          </a:prstGeom>
          <a:solidFill>
            <a:srgbClr val="F3EE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9"/>
          <p:cNvSpPr/>
          <p:nvPr/>
        </p:nvSpPr>
        <p:spPr>
          <a:xfrm>
            <a:off x="6766560" y="248716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Priority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/>
          <p:nvPr/>
        </p:nvSpPr>
        <p:spPr>
          <a:xfrm>
            <a:off x="274320" y="2999232"/>
            <a:ext cx="1920240" cy="51206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9"/>
          <p:cNvSpPr/>
          <p:nvPr/>
        </p:nvSpPr>
        <p:spPr>
          <a:xfrm>
            <a:off x="365760" y="303580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9"/>
          <p:cNvSpPr/>
          <p:nvPr/>
        </p:nvSpPr>
        <p:spPr>
          <a:xfrm>
            <a:off x="2286000" y="2999232"/>
            <a:ext cx="2103120" cy="51206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9"/>
          <p:cNvSpPr/>
          <p:nvPr/>
        </p:nvSpPr>
        <p:spPr>
          <a:xfrm>
            <a:off x="2377440" y="30358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O(V + 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9"/>
          <p:cNvSpPr/>
          <p:nvPr/>
        </p:nvSpPr>
        <p:spPr>
          <a:xfrm>
            <a:off x="4480560" y="2999232"/>
            <a:ext cx="2103120" cy="51206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9"/>
          <p:cNvSpPr/>
          <p:nvPr/>
        </p:nvSpPr>
        <p:spPr>
          <a:xfrm>
            <a:off x="4572000" y="30358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O(V + 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6675120" y="2999232"/>
            <a:ext cx="2377440" cy="512064"/>
          </a:xfrm>
          <a:prstGeom prst="rect">
            <a:avLst/>
          </a:prstGeom>
          <a:solidFill>
            <a:srgbClr val="F3EE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9"/>
          <p:cNvSpPr/>
          <p:nvPr/>
        </p:nvSpPr>
        <p:spPr>
          <a:xfrm>
            <a:off x="6766560" y="303580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O((V+E) log V)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274320" y="3547872"/>
            <a:ext cx="192024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9"/>
          <p:cNvSpPr/>
          <p:nvPr/>
        </p:nvSpPr>
        <p:spPr>
          <a:xfrm>
            <a:off x="365760" y="358444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Best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2286000" y="3547872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9"/>
          <p:cNvSpPr/>
          <p:nvPr/>
        </p:nvSpPr>
        <p:spPr>
          <a:xfrm>
            <a:off x="2377440" y="358444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Connectivity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9"/>
          <p:cNvSpPr/>
          <p:nvPr/>
        </p:nvSpPr>
        <p:spPr>
          <a:xfrm>
            <a:off x="4480560" y="3547872"/>
            <a:ext cx="210312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9"/>
          <p:cNvSpPr/>
          <p:nvPr/>
        </p:nvSpPr>
        <p:spPr>
          <a:xfrm>
            <a:off x="4572000" y="358444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9"/>
          <p:cNvSpPr/>
          <p:nvPr/>
        </p:nvSpPr>
        <p:spPr>
          <a:xfrm>
            <a:off x="6675120" y="3547872"/>
            <a:ext cx="2377440" cy="512064"/>
          </a:xfrm>
          <a:prstGeom prst="rect">
            <a:avLst/>
          </a:prstGeom>
          <a:solidFill>
            <a:srgbClr val="F3EE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9"/>
          <p:cNvSpPr/>
          <p:nvPr/>
        </p:nvSpPr>
        <p:spPr>
          <a:xfrm>
            <a:off x="6766560" y="358444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Weighted maps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9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Dijkstra does NOT work with negative edge weights. For negative weights, use Bellman-Ford (next semester).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0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40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Problems — Homework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0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0"/>
          <p:cNvSpPr/>
          <p:nvPr/>
        </p:nvSpPr>
        <p:spPr>
          <a:xfrm>
            <a:off x="274320" y="804672"/>
            <a:ext cx="640080" cy="71323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0"/>
          <p:cNvSpPr/>
          <p:nvPr/>
        </p:nvSpPr>
        <p:spPr>
          <a:xfrm>
            <a:off x="274320" y="804672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0"/>
          <p:cNvSpPr/>
          <p:nvPr/>
        </p:nvSpPr>
        <p:spPr>
          <a:xfrm>
            <a:off x="1005840" y="1005840"/>
            <a:ext cx="1005840" cy="329184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0"/>
          <p:cNvSpPr/>
          <p:nvPr/>
        </p:nvSpPr>
        <p:spPr>
          <a:xfrm>
            <a:off x="1005840" y="100584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0"/>
          <p:cNvSpPr/>
          <p:nvPr/>
        </p:nvSpPr>
        <p:spPr>
          <a:xfrm>
            <a:off x="2148840" y="87782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Number of Provinces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0"/>
          <p:cNvSpPr/>
          <p:nvPr/>
        </p:nvSpPr>
        <p:spPr>
          <a:xfrm>
            <a:off x="2148840" y="117043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Count connected components. Standard DFS.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0"/>
          <p:cNvSpPr/>
          <p:nvPr/>
        </p:nvSpPr>
        <p:spPr>
          <a:xfrm>
            <a:off x="274320" y="1609344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0"/>
          <p:cNvSpPr/>
          <p:nvPr/>
        </p:nvSpPr>
        <p:spPr>
          <a:xfrm>
            <a:off x="274320" y="1609344"/>
            <a:ext cx="640080" cy="71323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0"/>
          <p:cNvSpPr/>
          <p:nvPr/>
        </p:nvSpPr>
        <p:spPr>
          <a:xfrm>
            <a:off x="274320" y="1609344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900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0"/>
          <p:cNvSpPr/>
          <p:nvPr/>
        </p:nvSpPr>
        <p:spPr>
          <a:xfrm>
            <a:off x="1005840" y="1810512"/>
            <a:ext cx="1005840" cy="329184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40"/>
          <p:cNvSpPr/>
          <p:nvPr/>
        </p:nvSpPr>
        <p:spPr>
          <a:xfrm>
            <a:off x="1005840" y="18105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0"/>
          <p:cNvSpPr/>
          <p:nvPr/>
        </p:nvSpPr>
        <p:spPr>
          <a:xfrm>
            <a:off x="2148840" y="16824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Shortest Path in Binary 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0"/>
          <p:cNvSpPr/>
          <p:nvPr/>
        </p:nvSpPr>
        <p:spPr>
          <a:xfrm>
            <a:off x="2148840" y="1975104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BFS on a grid. Find minimum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0"/>
          <p:cNvSpPr/>
          <p:nvPr/>
        </p:nvSpPr>
        <p:spPr>
          <a:xfrm>
            <a:off x="274320" y="2414016"/>
            <a:ext cx="8595360" cy="7132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0"/>
          <p:cNvSpPr/>
          <p:nvPr/>
        </p:nvSpPr>
        <p:spPr>
          <a:xfrm>
            <a:off x="274320" y="2414016"/>
            <a:ext cx="640080" cy="71323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40"/>
          <p:cNvSpPr/>
          <p:nvPr/>
        </p:nvSpPr>
        <p:spPr>
          <a:xfrm>
            <a:off x="274320" y="2414016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0"/>
          <p:cNvSpPr/>
          <p:nvPr/>
        </p:nvSpPr>
        <p:spPr>
          <a:xfrm>
            <a:off x="1005840" y="2615184"/>
            <a:ext cx="1005840" cy="329184"/>
          </a:xfrm>
          <a:prstGeom prst="rect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0"/>
          <p:cNvSpPr/>
          <p:nvPr/>
        </p:nvSpPr>
        <p:spPr>
          <a:xfrm>
            <a:off x="1005840" y="261518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0"/>
          <p:cNvSpPr/>
          <p:nvPr/>
        </p:nvSpPr>
        <p:spPr>
          <a:xfrm>
            <a:off x="2148840" y="24871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Keys and Rooms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0"/>
          <p:cNvSpPr/>
          <p:nvPr/>
        </p:nvSpPr>
        <p:spPr>
          <a:xfrm>
            <a:off x="2148840" y="2779776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Can you visit all rooms using collected keys?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0"/>
          <p:cNvSpPr/>
          <p:nvPr/>
        </p:nvSpPr>
        <p:spPr>
          <a:xfrm>
            <a:off x="274320" y="3218688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0"/>
          <p:cNvSpPr/>
          <p:nvPr/>
        </p:nvSpPr>
        <p:spPr>
          <a:xfrm>
            <a:off x="274320" y="3218688"/>
            <a:ext cx="640080" cy="71323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0"/>
          <p:cNvSpPr/>
          <p:nvPr/>
        </p:nvSpPr>
        <p:spPr>
          <a:xfrm>
            <a:off x="274320" y="3218688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1200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0"/>
          <p:cNvSpPr/>
          <p:nvPr/>
        </p:nvSpPr>
        <p:spPr>
          <a:xfrm>
            <a:off x="1005840" y="3419856"/>
            <a:ext cx="1005840" cy="329184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0"/>
          <p:cNvSpPr/>
          <p:nvPr/>
        </p:nvSpPr>
        <p:spPr>
          <a:xfrm>
            <a:off x="1005840" y="341985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0"/>
          <p:cNvSpPr/>
          <p:nvPr/>
        </p:nvSpPr>
        <p:spPr>
          <a:xfrm>
            <a:off x="2148840" y="3291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01 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0"/>
          <p:cNvSpPr/>
          <p:nvPr/>
        </p:nvSpPr>
        <p:spPr>
          <a:xfrm>
            <a:off x="2148840" y="3584448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Find distance of each cell from nearest 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0"/>
          <p:cNvSpPr/>
          <p:nvPr/>
        </p:nvSpPr>
        <p:spPr>
          <a:xfrm>
            <a:off x="274320" y="4023360"/>
            <a:ext cx="8595360" cy="713232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0"/>
          <p:cNvSpPr/>
          <p:nvPr/>
        </p:nvSpPr>
        <p:spPr>
          <a:xfrm>
            <a:off x="274320" y="4023360"/>
            <a:ext cx="640080" cy="71323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40"/>
          <p:cNvSpPr/>
          <p:nvPr/>
        </p:nvSpPr>
        <p:spPr>
          <a:xfrm>
            <a:off x="274320" y="4023360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1400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0"/>
          <p:cNvSpPr/>
          <p:nvPr/>
        </p:nvSpPr>
        <p:spPr>
          <a:xfrm>
            <a:off x="1005840" y="4224528"/>
            <a:ext cx="1005840" cy="32918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0"/>
          <p:cNvSpPr/>
          <p:nvPr/>
        </p:nvSpPr>
        <p:spPr>
          <a:xfrm>
            <a:off x="1005840" y="422452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0"/>
          <p:cNvSpPr/>
          <p:nvPr/>
        </p:nvSpPr>
        <p:spPr>
          <a:xfrm>
            <a:off x="2148840" y="40965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Network Delay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0"/>
          <p:cNvSpPr/>
          <p:nvPr/>
        </p:nvSpPr>
        <p:spPr>
          <a:xfrm>
            <a:off x="2148840" y="438912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Weighted shortest path from source to all nodes.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0"/>
          <p:cNvSpPr/>
          <p:nvPr/>
        </p:nvSpPr>
        <p:spPr>
          <a:xfrm>
            <a:off x="274320" y="4462272"/>
            <a:ext cx="8595360" cy="594360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0"/>
          <p:cNvSpPr/>
          <p:nvPr/>
        </p:nvSpPr>
        <p:spPr>
          <a:xfrm>
            <a:off x="457200" y="44622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💡  Submit all solutions in Java — not Python. Use the CP template for every problem. Bring questions to next meeting.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1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Next — The Curriculum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1"/>
          <p:cNvSpPr/>
          <p:nvPr/>
        </p:nvSpPr>
        <p:spPr>
          <a:xfrm>
            <a:off x="274320" y="804672"/>
            <a:ext cx="8595360" cy="603504"/>
          </a:xfrm>
          <a:prstGeom prst="rect">
            <a:avLst/>
          </a:prstGeom>
          <a:solidFill>
            <a:srgbClr val="E1F7FB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1"/>
          <p:cNvSpPr/>
          <p:nvPr/>
        </p:nvSpPr>
        <p:spPr>
          <a:xfrm>
            <a:off x="7132320" y="941832"/>
            <a:ext cx="1463040" cy="329184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1"/>
          <p:cNvSpPr/>
          <p:nvPr/>
        </p:nvSpPr>
        <p:spPr>
          <a:xfrm>
            <a:off x="7132320" y="94183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1"/>
          <p:cNvSpPr/>
          <p:nvPr/>
        </p:nvSpPr>
        <p:spPr>
          <a:xfrm>
            <a:off x="457200" y="87782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1"/>
          <p:cNvSpPr/>
          <p:nvPr/>
        </p:nvSpPr>
        <p:spPr>
          <a:xfrm>
            <a:off x="457200" y="1078992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DFS · BFS · Dijkstra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1"/>
          <p:cNvSpPr/>
          <p:nvPr/>
        </p:nvSpPr>
        <p:spPr>
          <a:xfrm>
            <a:off x="274320" y="1481328"/>
            <a:ext cx="859536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1"/>
          <p:cNvSpPr/>
          <p:nvPr/>
        </p:nvSpPr>
        <p:spPr>
          <a:xfrm>
            <a:off x="7132320" y="1618488"/>
            <a:ext cx="1463040" cy="329184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1"/>
          <p:cNvSpPr/>
          <p:nvPr/>
        </p:nvSpPr>
        <p:spPr>
          <a:xfrm>
            <a:off x="7132320" y="161848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1"/>
          <p:cNvSpPr/>
          <p:nvPr/>
        </p:nvSpPr>
        <p:spPr>
          <a:xfrm>
            <a:off x="457200" y="155448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+2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1"/>
          <p:cNvSpPr/>
          <p:nvPr/>
        </p:nvSpPr>
        <p:spPr>
          <a:xfrm>
            <a:off x="457200" y="1755648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Bellman-Ford + SPFA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1"/>
          <p:cNvSpPr/>
          <p:nvPr/>
        </p:nvSpPr>
        <p:spPr>
          <a:xfrm>
            <a:off x="274320" y="2157984"/>
            <a:ext cx="8595360" cy="60350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1"/>
          <p:cNvSpPr/>
          <p:nvPr/>
        </p:nvSpPr>
        <p:spPr>
          <a:xfrm>
            <a:off x="7132320" y="2295144"/>
            <a:ext cx="1463040" cy="32918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41"/>
          <p:cNvSpPr/>
          <p:nvPr/>
        </p:nvSpPr>
        <p:spPr>
          <a:xfrm>
            <a:off x="7132320" y="2295144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1"/>
          <p:cNvSpPr/>
          <p:nvPr/>
        </p:nvSpPr>
        <p:spPr>
          <a:xfrm>
            <a:off x="457200" y="223113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+3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1"/>
          <p:cNvSpPr/>
          <p:nvPr/>
        </p:nvSpPr>
        <p:spPr>
          <a:xfrm>
            <a:off x="457200" y="2432304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Minimum Spanning Tree (Kruskal / Prim)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1"/>
          <p:cNvSpPr/>
          <p:nvPr/>
        </p:nvSpPr>
        <p:spPr>
          <a:xfrm>
            <a:off x="274320" y="2834640"/>
            <a:ext cx="859536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1"/>
          <p:cNvSpPr/>
          <p:nvPr/>
        </p:nvSpPr>
        <p:spPr>
          <a:xfrm>
            <a:off x="7132320" y="2971800"/>
            <a:ext cx="1463040" cy="32918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1"/>
          <p:cNvSpPr/>
          <p:nvPr/>
        </p:nvSpPr>
        <p:spPr>
          <a:xfrm>
            <a:off x="7132320" y="297180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1"/>
          <p:cNvSpPr/>
          <p:nvPr/>
        </p:nvSpPr>
        <p:spPr>
          <a:xfrm>
            <a:off x="457200" y="290779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+4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1"/>
          <p:cNvSpPr/>
          <p:nvPr/>
        </p:nvSpPr>
        <p:spPr>
          <a:xfrm>
            <a:off x="457200" y="310896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Dynamic Programming — Intro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1"/>
          <p:cNvSpPr/>
          <p:nvPr/>
        </p:nvSpPr>
        <p:spPr>
          <a:xfrm>
            <a:off x="274320" y="3511296"/>
            <a:ext cx="8595360" cy="603504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41"/>
          <p:cNvSpPr/>
          <p:nvPr/>
        </p:nvSpPr>
        <p:spPr>
          <a:xfrm>
            <a:off x="7132320" y="3648456"/>
            <a:ext cx="1463040" cy="329184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41"/>
          <p:cNvSpPr/>
          <p:nvPr/>
        </p:nvSpPr>
        <p:spPr>
          <a:xfrm>
            <a:off x="7132320" y="3648456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1"/>
          <p:cNvSpPr/>
          <p:nvPr/>
        </p:nvSpPr>
        <p:spPr>
          <a:xfrm>
            <a:off x="457200" y="358444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+5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1"/>
          <p:cNvSpPr/>
          <p:nvPr/>
        </p:nvSpPr>
        <p:spPr>
          <a:xfrm>
            <a:off x="457200" y="3785616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Advanced DP (LIS, Knapsack, Grid DP)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1"/>
          <p:cNvSpPr/>
          <p:nvPr/>
        </p:nvSpPr>
        <p:spPr>
          <a:xfrm>
            <a:off x="274320" y="4187952"/>
            <a:ext cx="859536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1"/>
          <p:cNvSpPr/>
          <p:nvPr/>
        </p:nvSpPr>
        <p:spPr>
          <a:xfrm>
            <a:off x="7132320" y="4325112"/>
            <a:ext cx="1463040" cy="329184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1"/>
          <p:cNvSpPr/>
          <p:nvPr/>
        </p:nvSpPr>
        <p:spPr>
          <a:xfrm>
            <a:off x="7132320" y="432511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1"/>
          <p:cNvSpPr/>
          <p:nvPr/>
        </p:nvSpPr>
        <p:spPr>
          <a:xfrm>
            <a:off x="457200" y="42611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+6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1"/>
          <p:cNvSpPr/>
          <p:nvPr/>
        </p:nvSpPr>
        <p:spPr>
          <a:xfrm>
            <a:off x="457200" y="4462272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Mock Contest — full CALICO-style practice round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