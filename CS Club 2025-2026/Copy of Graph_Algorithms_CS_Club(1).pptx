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google.com/document/d/15B3hdvf72_fPbRm-BtEl_i9Jq-ufUrg1EfGtifC_iVc/edit?tab=t.0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vjudge.net/contest/796073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rPr>
              <a:t>Graph Algorithms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31520" y="201168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From Zero to Contest Ready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731545" y="2948525"/>
            <a:ext cx="768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CS Club  •  Problem-Based Learning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" name="Google Shape;21;p3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3374550" y="3322099"/>
            <a:ext cx="2288425" cy="220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rPr>
              <a:t>What Is a Graph?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57200" y="1097280"/>
            <a:ext cx="43891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graph is a collection of: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Char char="•"/>
            </a:pPr>
            <a:r>
              <a:rPr b="1" i="0" lang="en-US" sz="18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Nodes (vertices)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"things" — people, cities, pages, cells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800"/>
              <a:buFont typeface="Calibri"/>
              <a:buChar char="•"/>
            </a:pPr>
            <a:r>
              <a:rPr b="1" i="0" lang="en-US" sz="18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Edges (connections)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"relationships" — friendships, roads, links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Graphs model relationships between things.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" name="Google Shape;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1097280"/>
            <a:ext cx="384048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rPr>
              <a:t>Representing Graphs in Code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097280"/>
            <a:ext cx="3474720" cy="256032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/>
          <p:nvPr/>
        </p:nvSpPr>
        <p:spPr>
          <a:xfrm>
            <a:off x="4114800" y="1097280"/>
            <a:ext cx="4754880" cy="329184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4297680" y="118872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Python — Adjacency 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4297680" y="1600200"/>
            <a:ext cx="438912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Build an adjacency 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graph = 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"A": ["B", "D"],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"B": ["A", "C", "D"],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"C": ["B", "E"],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"D": ["A", "B", "E"],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"E": ["C", "D"]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Or build dynamically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6C0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from collections import defaultdict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graph = defaultdict(list)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graph["A"].append("B")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Adjacency List: For each node, store its neighbors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rPr>
              <a:t>Depth-First Search (DFS)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457200" y="8229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Go as deep as possible before backtracking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6320" y="731520"/>
            <a:ext cx="4114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365760" y="1371600"/>
            <a:ext cx="4389120" cy="310896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548640" y="1508760"/>
            <a:ext cx="40233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def dfs(node, visited, graph):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visited.add(node)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    print(node)  # process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for neighbor in graph[node]: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if neighbor not in visited: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    dfs(neighbor, visited,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        graph)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Start DFS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visited = set()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dfs("A", visited, graph)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Time: O(V + E)  •  Uses recursion (call stack)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rPr>
              <a:t>Breadth-First Search (BFS)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457200" y="8229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rPr>
              <a:t>Explore level by level — finds shortest paths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" name="Google Shape;6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6320" y="731520"/>
            <a:ext cx="4114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7"/>
          <p:cNvSpPr/>
          <p:nvPr/>
        </p:nvSpPr>
        <p:spPr>
          <a:xfrm>
            <a:off x="365760" y="1371600"/>
            <a:ext cx="4389120" cy="310896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7"/>
          <p:cNvSpPr/>
          <p:nvPr/>
        </p:nvSpPr>
        <p:spPr>
          <a:xfrm>
            <a:off x="548640" y="1463040"/>
            <a:ext cx="40233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86C0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from collections import deque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def bfs(start, graph):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visited = {start}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queue = deque([start])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while queue: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node = queue.popleft()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        print(node)  # process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for nbr in graph[node]: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    if nbr not in visited: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        visited.add(nbr)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        queue.append(nbr)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Time: O(V + E)  •  Uses a queue  •  Guarantees shortest path in unweighted graphs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rPr>
              <a:t>DFS vs BFS — When to Use Which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8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8"/>
          <p:cNvSpPr/>
          <p:nvPr/>
        </p:nvSpPr>
        <p:spPr>
          <a:xfrm>
            <a:off x="640080" y="114300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DFS — Depth-First Search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640080" y="1737360"/>
            <a:ext cx="3566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Data structure: Stack / Recursion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Best for: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Exploring all paths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Connected components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Cycle detection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Topological sort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Backtracking problems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8"/>
          <p:cNvSpPr/>
          <p:nvPr/>
        </p:nvSpPr>
        <p:spPr>
          <a:xfrm>
            <a:off x="4937760" y="114300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BFS — Breadth-First Search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Data structure: Queue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Best for: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Shortest path (unweighted)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Level-order traversal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Minimum steps problems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Multi-source spreading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Rotting Oranges-style problems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9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rPr>
              <a:t>Connected Components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457200" y="8229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Groups of nodes that can reach each other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" name="Google Shape;9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0" y="914400"/>
            <a:ext cx="411480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9"/>
          <p:cNvSpPr/>
          <p:nvPr/>
        </p:nvSpPr>
        <p:spPr>
          <a:xfrm>
            <a:off x="365760" y="1371600"/>
            <a:ext cx="4206240" cy="29260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9"/>
          <p:cNvSpPr/>
          <p:nvPr/>
        </p:nvSpPr>
        <p:spPr>
          <a:xfrm>
            <a:off x="548640" y="1463040"/>
            <a:ext cx="38404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def count_components(graph, n):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visited = set()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count = 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for node in range(n):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if node not in visited: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    dfs(node, visited, graph)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0" i="0" lang="en-US" sz="125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count += 1</a:t>
            </a:r>
            <a:r>
              <a:rPr b="0" i="0" lang="en-US" sz="125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  # new</a:t>
            </a:r>
            <a:r>
              <a:rPr lang="en-US" sz="12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25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component!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50"/>
              <a:buFont typeface="Consolas"/>
              <a:buNone/>
            </a:pPr>
            <a:r>
              <a:rPr b="0" i="0" lang="en-US" sz="125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return count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Key Insight: Each time you start a new DFS from an unvisited node, that's a new component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rPr>
              <a:t>Trees — A Special Kind of Graph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0" y="731520"/>
            <a:ext cx="41148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0"/>
          <p:cNvSpPr/>
          <p:nvPr/>
        </p:nvSpPr>
        <p:spPr>
          <a:xfrm>
            <a:off x="457200" y="914400"/>
            <a:ext cx="4114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tree is a graph with: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700"/>
              <a:buFont typeface="Calibri"/>
              <a:buChar char="•"/>
            </a:pPr>
            <a:r>
              <a:rPr b="1" i="0" lang="en-US" sz="170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N nodes, N-1 edges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700"/>
              <a:buFont typeface="Calibri"/>
              <a:buChar char="•"/>
            </a:pPr>
            <a:r>
              <a:rPr b="1" i="0" lang="en-US" sz="170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No cycles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700"/>
              <a:buFont typeface="Calibri"/>
              <a:buChar char="•"/>
            </a:pPr>
            <a:r>
              <a:rPr b="1" i="0" lang="en-US" sz="170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Fully connected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700"/>
              <a:buFont typeface="Calibri"/>
              <a:buChar char="•"/>
            </a:pPr>
            <a:r>
              <a:rPr b="1" i="0" lang="en-US" sz="1700" u="none" cap="none" strike="noStrik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Exactly one path between any two nodes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Why it matters in CP: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Trees show up everywhere — file systems, HTML, org charts, and dozens of contest problems every season.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rPr>
              <a:t>Grids Are Graphs Too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1"/>
          <p:cNvSpPr/>
          <p:nvPr/>
        </p:nvSpPr>
        <p:spPr>
          <a:xfrm>
            <a:off x="457200" y="8229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5EEAD4"/>
                </a:solidFill>
                <a:latin typeface="Arial"/>
                <a:ea typeface="Arial"/>
                <a:cs typeface="Arial"/>
                <a:sym typeface="Arial"/>
              </a:rPr>
              <a:t>LeetCode 200 — Number of Islands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80160"/>
            <a:ext cx="32004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1"/>
          <p:cNvSpPr/>
          <p:nvPr/>
        </p:nvSpPr>
        <p:spPr>
          <a:xfrm>
            <a:off x="3931920" y="1188720"/>
            <a:ext cx="47548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Each cell = a node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Adjacent 1s = edges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Each island = connected component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Answer = number of components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3931920" y="2651760"/>
            <a:ext cx="4754880" cy="210312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1"/>
          <p:cNvSpPr/>
          <p:nvPr/>
        </p:nvSpPr>
        <p:spPr>
          <a:xfrm>
            <a:off x="4114800" y="2743200"/>
            <a:ext cx="43891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DCAA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def numIslands(grid):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count = 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for r in range(len(grid)):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for c in range(len(grid[0])):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if grid[r][c] == "1":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      dfs(grid, r, c)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          count +=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return count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3 islands — 3 colors — 3 DFS calls from unvisited land cells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rPr>
              <a:t>Data Structures for Graphs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2"/>
          <p:cNvSpPr/>
          <p:nvPr/>
        </p:nvSpPr>
        <p:spPr>
          <a:xfrm>
            <a:off x="365760" y="1097280"/>
            <a:ext cx="2697480" cy="32004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2"/>
          <p:cNvSpPr/>
          <p:nvPr/>
        </p:nvSpPr>
        <p:spPr>
          <a:xfrm>
            <a:off x="365760" y="1097280"/>
            <a:ext cx="269748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2"/>
          <p:cNvSpPr/>
          <p:nvPr/>
        </p:nvSpPr>
        <p:spPr>
          <a:xfrm>
            <a:off x="502920" y="11430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set() — Visited Tracking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2"/>
          <p:cNvSpPr/>
          <p:nvPr/>
        </p:nvSpPr>
        <p:spPr>
          <a:xfrm>
            <a:off x="502920" y="1691640"/>
            <a:ext cx="24231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O(1) add and lookup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Track which nodes you've seen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Prevents infinite loops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3246120" y="1097280"/>
            <a:ext cx="2697480" cy="32004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2"/>
          <p:cNvSpPr/>
          <p:nvPr/>
        </p:nvSpPr>
        <p:spPr>
          <a:xfrm>
            <a:off x="3246120" y="1097280"/>
            <a:ext cx="269748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2"/>
          <p:cNvSpPr/>
          <p:nvPr/>
        </p:nvSpPr>
        <p:spPr>
          <a:xfrm>
            <a:off x="3383280" y="11430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deque() — BFS Queue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3383280" y="1691640"/>
            <a:ext cx="24231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O(1) popleft and append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First-In-First-Out (FIFO)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from collections import deque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6126480" y="1097280"/>
            <a:ext cx="2697480" cy="32004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2"/>
          <p:cNvSpPr/>
          <p:nvPr/>
        </p:nvSpPr>
        <p:spPr>
          <a:xfrm>
            <a:off x="6126480" y="1097280"/>
            <a:ext cx="2697480" cy="411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2"/>
          <p:cNvSpPr/>
          <p:nvPr/>
        </p:nvSpPr>
        <p:spPr>
          <a:xfrm>
            <a:off x="6263640" y="11430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dict / defaultdict — Graph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2"/>
          <p:cNvSpPr/>
          <p:nvPr/>
        </p:nvSpPr>
        <p:spPr>
          <a:xfrm>
            <a:off x="6263640" y="1691640"/>
            <a:ext cx="24231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Store adjacency lists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O(1) neighbor lookup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defaultdict(list) for building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200"/>
              <a:buFont typeface="Arial Black"/>
              <a:buNone/>
            </a:pPr>
            <a:r>
              <a:rPr b="1" i="0" lang="en-US" sz="3200" u="sng" cap="none" strike="noStrike">
                <a:solidFill>
                  <a:schemeClr val="hlink"/>
                </a:solidFill>
                <a:latin typeface="Arial Black"/>
                <a:ea typeface="Arial Black"/>
                <a:cs typeface="Arial Black"/>
                <a:sym typeface="Arial Black"/>
                <a:hlinkClick r:id="rId3"/>
              </a:rPr>
              <a:t>Practice Problems</a:t>
            </a:r>
            <a:r>
              <a:rPr b="1" i="0" lang="en-US" sz="3200" u="none" cap="none" strike="noStrike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rPr>
              <a:t> — Start Here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3"/>
          <p:cNvSpPr/>
          <p:nvPr/>
        </p:nvSpPr>
        <p:spPr>
          <a:xfrm>
            <a:off x="548640" y="109728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LC #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1280160" y="109728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3657600" y="10972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Diff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4572000" y="10972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Concept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3"/>
          <p:cNvSpPr/>
          <p:nvPr/>
        </p:nvSpPr>
        <p:spPr>
          <a:xfrm>
            <a:off x="548640" y="1508760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733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1280160" y="150876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Flood Fill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3657600" y="1508760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Easy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4572000" y="150876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Basic DFS on grid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457200" y="1947672"/>
            <a:ext cx="8229600" cy="4114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"/>
          <p:cNvSpPr/>
          <p:nvPr/>
        </p:nvSpPr>
        <p:spPr>
          <a:xfrm>
            <a:off x="548640" y="1947672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200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1280160" y="1947672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Number of Islands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3657600" y="1947672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Med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4572000" y="1947672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DFS + connected components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457200" y="2386584"/>
            <a:ext cx="822960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3"/>
          <p:cNvSpPr/>
          <p:nvPr/>
        </p:nvSpPr>
        <p:spPr>
          <a:xfrm>
            <a:off x="548640" y="2386584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695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1280160" y="2386584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Max Area of Island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3657600" y="2386584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Med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4572000" y="2386584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DFS + tracking size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457200" y="2825496"/>
            <a:ext cx="8229600" cy="4114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3"/>
          <p:cNvSpPr/>
          <p:nvPr/>
        </p:nvSpPr>
        <p:spPr>
          <a:xfrm>
            <a:off x="548640" y="2825496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994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1280160" y="2825496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Rotting Oranges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3657600" y="2825496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Med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4572000" y="2825496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Multi-source BFS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457200" y="3264408"/>
            <a:ext cx="822960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3"/>
          <p:cNvSpPr/>
          <p:nvPr/>
        </p:nvSpPr>
        <p:spPr>
          <a:xfrm>
            <a:off x="548640" y="3264408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542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1280160" y="3264408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01 Matrix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3657600" y="3264408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Med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4572000" y="3264408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BFS shortest distance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457200" y="3703320"/>
            <a:ext cx="8229600" cy="41148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3"/>
          <p:cNvSpPr/>
          <p:nvPr/>
        </p:nvSpPr>
        <p:spPr>
          <a:xfrm>
            <a:off x="548640" y="3703320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133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1280160" y="370332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Clone Graph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3657600" y="3703320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Med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4572000" y="370332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Adjacency list traversal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457200" y="4142232"/>
            <a:ext cx="822960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"/>
          <p:cNvSpPr/>
          <p:nvPr/>
        </p:nvSpPr>
        <p:spPr>
          <a:xfrm>
            <a:off x="548640" y="4142232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5EEAD4"/>
                </a:solidFill>
                <a:latin typeface="Consolas"/>
                <a:ea typeface="Consolas"/>
                <a:cs typeface="Consolas"/>
                <a:sym typeface="Consolas"/>
              </a:rPr>
              <a:t>207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1280160" y="4142232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Course Schedule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3657600" y="4142232"/>
            <a:ext cx="731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Med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4572000" y="4142232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Cycle detection / topo sort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Start with Flood Fill. If you can solve that, you can solve Number of Islands. Then keep going.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4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rPr>
              <a:t>Now Go Solve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1371600" y="1097280"/>
            <a:ext cx="6400800" cy="21031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4"/>
          <p:cNvSpPr/>
          <p:nvPr/>
        </p:nvSpPr>
        <p:spPr>
          <a:xfrm>
            <a:off x="1371600" y="1097280"/>
            <a:ext cx="64008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4"/>
          <p:cNvSpPr/>
          <p:nvPr/>
        </p:nvSpPr>
        <p:spPr>
          <a:xfrm>
            <a:off x="1554480" y="1234440"/>
            <a:ext cx="6035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VJudge Graph Competition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1554480" y="1645920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400"/>
              <a:buFont typeface="Consolas"/>
              <a:buNone/>
            </a:pPr>
            <a:r>
              <a:rPr b="1" i="0" lang="en-US" sz="2400" u="sng" cap="none" strike="noStrik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vjudge.net/contest/796073</a:t>
            </a:r>
            <a:endParaRPr b="0" i="0" sz="2400" u="none" cap="none" strike="noStrike">
              <a:solidFill>
                <a:srgbClr val="F9731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4"/>
          <p:cNvSpPr/>
          <p:nvPr/>
        </p:nvSpPr>
        <p:spPr>
          <a:xfrm>
            <a:off x="1828800" y="2103120"/>
            <a:ext cx="5486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Graph problems from today's lesson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Public leaderboard — compete against the club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500"/>
              <a:buFont typeface="Calibri"/>
              <a:buChar char="•"/>
            </a:pPr>
            <a:r>
              <a:rPr b="1" i="0" lang="en-US" sz="15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We're watching the leaderboard.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4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rPr>
              <a:t>Contest Season Is Now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RUCP &amp; CALICO — April 11   •   CMIMC — April 18   •   PClassic — Late April   •   TSA States — May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500"/>
              <a:buFont typeface="Arial"/>
              <a:buNone/>
            </a:pPr>
            <a:r>
              <a:rPr b="1" i="1" lang="en-US" sz="15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Graphs show up in every single one of these.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