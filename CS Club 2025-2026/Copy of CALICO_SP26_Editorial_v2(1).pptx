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978538ebf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978538ebf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978538ebf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d834a12438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g3d834a12438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g3d834a12438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d834a12438_1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g3d834a12438_1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g3d834a12438_1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d834a12438_1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g3d834a12438_1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g3d834a12438_1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d834a12438_1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g3d834a12438_1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g3d834a12438_1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114800" y="-182880"/>
            <a:ext cx="502920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61B22"/>
              </a:buClr>
              <a:buSzPts val="28000"/>
              <a:buFont typeface="Calibri"/>
              <a:buNone/>
            </a:pPr>
            <a:r>
              <a:rPr b="1" i="0" lang="en-US" sz="28000" u="none" cap="none" strike="noStrike">
                <a:solidFill>
                  <a:srgbClr val="161B22"/>
                </a:solidFill>
                <a:latin typeface="Calibri"/>
                <a:ea typeface="Calibri"/>
                <a:cs typeface="Calibri"/>
                <a:sym typeface="Calibri"/>
              </a:rPr>
              <a:t>'26</a:t>
            </a:r>
            <a:endParaRPr b="0" i="0" sz="2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11480" y="54864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CALICO Spring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11480" y="1325880"/>
            <a:ext cx="6400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'26 Editorial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11480" y="2633472"/>
            <a:ext cx="3108960" cy="54864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411480" y="2798064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CS Club  ·  Northern Highlands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11480" y="3145536"/>
            <a:ext cx="6400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Room 133  ·  April 20, 2026  ·  2:45 PM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11480" y="3749040"/>
            <a:ext cx="2011680" cy="685800"/>
          </a:xfrm>
          <a:prstGeom prst="rect">
            <a:avLst/>
          </a:prstGeom>
          <a:solidFill>
            <a:srgbClr val="052E24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11480" y="3749040"/>
            <a:ext cx="2011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6 Problems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Covered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228600" y="0"/>
            <a:ext cx="8686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Contest Overview  ·  What We're Covering Today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82880" y="493776"/>
            <a:ext cx="3108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#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30352" y="493776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2304288" y="493776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3986784" y="49377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029200" y="49377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Key Idea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" name="Google Shape;38;p4"/>
          <p:cNvCxnSpPr/>
          <p:nvPr/>
        </p:nvCxnSpPr>
        <p:spPr>
          <a:xfrm>
            <a:off x="182880" y="694944"/>
            <a:ext cx="8778240" cy="0"/>
          </a:xfrm>
          <a:prstGeom prst="straightConnector1">
            <a:avLst/>
          </a:prstGeom>
          <a:noFill/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4"/>
          <p:cNvSpPr/>
          <p:nvPr/>
        </p:nvSpPr>
        <p:spPr>
          <a:xfrm>
            <a:off x="182880" y="713232"/>
            <a:ext cx="310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30352" y="713232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Piezoelectric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2304288" y="713232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986784" y="777240"/>
            <a:ext cx="932688" cy="192024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3986784" y="777240"/>
            <a:ext cx="9326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✓ 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029200" y="713232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O(1) formula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82880" y="1042416"/>
            <a:ext cx="310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30352" y="1042416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Nah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2304288" y="1042416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986784" y="1106424"/>
            <a:ext cx="932688" cy="192024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3986784" y="1106424"/>
            <a:ext cx="9326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✓ 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029200" y="1042416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Simulate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82880" y="1371600"/>
            <a:ext cx="310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530352" y="1371600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Files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2304288" y="1371600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3986784" y="1435608"/>
            <a:ext cx="932688" cy="192024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3986784" y="1435608"/>
            <a:ext cx="9326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✓ 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029200" y="137160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Two-pointer greedy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182880" y="1700784"/>
            <a:ext cx="310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30352" y="1700784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Laser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2304288" y="1700784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 1+3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3986784" y="1764792"/>
            <a:ext cx="932688" cy="192024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3986784" y="1764792"/>
            <a:ext cx="9326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✓ 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029200" y="1700784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Hash map / CRT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182880" y="2029968"/>
            <a:ext cx="310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530352" y="2029968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Grid Fill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2304288" y="2029968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 2+2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3986784" y="2093976"/>
            <a:ext cx="932688" cy="192024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3986784" y="2093976"/>
            <a:ext cx="9326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✓ 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5029200" y="2029968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Median / Slope Trick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82880" y="2359152"/>
            <a:ext cx="310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530352" y="2359152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Shadows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2304288" y="2359152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986784" y="2423160"/>
            <a:ext cx="932688" cy="192024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986784" y="2423160"/>
            <a:ext cx="9326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✓ 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5029200" y="2359152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Max &amp; min volume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82880" y="2706624"/>
            <a:ext cx="8778240" cy="29260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182880" y="2688336"/>
            <a:ext cx="310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530352" y="2688336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Cross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2304288" y="2688336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3986784" y="2752344"/>
            <a:ext cx="932688" cy="192024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3986784" y="2752344"/>
            <a:ext cx="9326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✓ 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029200" y="2688336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(r+2c) % 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182880" y="3035808"/>
            <a:ext cx="8778240" cy="29260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182880" y="3017520"/>
            <a:ext cx="310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30352" y="3017520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Mycelium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304288" y="3017520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 2+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3986784" y="3081528"/>
            <a:ext cx="932688" cy="192024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3986784" y="3081528"/>
            <a:ext cx="9326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✓ 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5029200" y="301752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2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0C24B"/>
                </a:solidFill>
                <a:latin typeface="Calibri"/>
                <a:ea typeface="Calibri"/>
                <a:cs typeface="Calibri"/>
                <a:sym typeface="Calibri"/>
              </a:rPr>
              <a:t>BFS dual-queue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182880" y="3364992"/>
            <a:ext cx="8778240" cy="29260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182880" y="3346704"/>
            <a:ext cx="310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30352" y="3346704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Splitters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2304288" y="3346704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3986784" y="3410712"/>
            <a:ext cx="932688" cy="192024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3986784" y="3410712"/>
            <a:ext cx="9326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✓ 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029200" y="3346704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Fraction simulation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182880" y="3694176"/>
            <a:ext cx="8778240" cy="29260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182880" y="3675888"/>
            <a:ext cx="310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30352" y="3675888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Splitters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2304288" y="3675888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3986784" y="3739896"/>
            <a:ext cx="932688" cy="192024"/>
          </a:xfrm>
          <a:prstGeom prst="rect">
            <a:avLst/>
          </a:prstGeom>
          <a:solidFill>
            <a:srgbClr val="2D0D0D"/>
          </a:solidFill>
          <a:ln cap="flat" cmpd="sng" w="952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3986784" y="3739896"/>
            <a:ext cx="9326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✗ Unsolved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5029200" y="3675888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92F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B792F5"/>
                </a:solidFill>
                <a:latin typeface="Calibri"/>
                <a:ea typeface="Calibri"/>
                <a:cs typeface="Calibri"/>
                <a:sym typeface="Calibri"/>
              </a:rPr>
              <a:t>Substream construction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182880" y="4023360"/>
            <a:ext cx="8778240" cy="29260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182880" y="4005072"/>
            <a:ext cx="310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530352" y="4005072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Lecture Main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2304288" y="4005072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3986784" y="4069080"/>
            <a:ext cx="932688" cy="192024"/>
          </a:xfrm>
          <a:prstGeom prst="rect">
            <a:avLst/>
          </a:prstGeom>
          <a:solidFill>
            <a:srgbClr val="2D0D0D"/>
          </a:solidFill>
          <a:ln cap="flat" cmpd="sng" w="952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3986784" y="4069080"/>
            <a:ext cx="9326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✗ Unsolved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5029200" y="4005072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Binary search + coord rotation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182880" y="4352544"/>
            <a:ext cx="8778240" cy="29260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182880" y="4334256"/>
            <a:ext cx="310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30352" y="4334256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Multiplication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2304288" y="4334256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 3+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3986784" y="4398264"/>
            <a:ext cx="932688" cy="192024"/>
          </a:xfrm>
          <a:prstGeom prst="rect">
            <a:avLst/>
          </a:prstGeom>
          <a:solidFill>
            <a:srgbClr val="2D0D0D"/>
          </a:solidFill>
          <a:ln cap="flat" cmpd="sng" w="952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3986784" y="4398264"/>
            <a:ext cx="9326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✗ Unsolved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5029200" y="4334256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Log transform + weighted median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/>
          <p:nvPr/>
        </p:nvSpPr>
        <p:spPr>
          <a:xfrm>
            <a:off x="228600" y="640080"/>
            <a:ext cx="45720" cy="438912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Cross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Rank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347472" y="694944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Fill an N×M grid with values 0–4 so that every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interior cell's 5-cell plus-shape (cross) contains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all five distinct values.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822960" y="1463040"/>
            <a:ext cx="384048" cy="384048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822960" y="14630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1207008" y="1463040"/>
            <a:ext cx="384048" cy="384048"/>
          </a:xfrm>
          <a:prstGeom prst="rect">
            <a:avLst/>
          </a:prstGeom>
          <a:solidFill>
            <a:srgbClr val="052E24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1207008" y="14630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C8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0FFC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1591056" y="1463040"/>
            <a:ext cx="384048" cy="384048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1591056" y="14630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822960" y="1847088"/>
            <a:ext cx="384048" cy="384048"/>
          </a:xfrm>
          <a:prstGeom prst="rect">
            <a:avLst/>
          </a:prstGeom>
          <a:solidFill>
            <a:srgbClr val="052E24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822960" y="18470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C8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0FFC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1207008" y="1847088"/>
            <a:ext cx="384048" cy="384048"/>
          </a:xfrm>
          <a:prstGeom prst="rect">
            <a:avLst/>
          </a:prstGeom>
          <a:solidFill>
            <a:srgbClr val="052E24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1207008" y="18470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C8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0FFC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1591056" y="1847088"/>
            <a:ext cx="384048" cy="384048"/>
          </a:xfrm>
          <a:prstGeom prst="rect">
            <a:avLst/>
          </a:prstGeom>
          <a:solidFill>
            <a:srgbClr val="052E24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1591056" y="18470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C8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0FFC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822960" y="2231136"/>
            <a:ext cx="384048" cy="384048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822960" y="22311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207008" y="2231136"/>
            <a:ext cx="384048" cy="384048"/>
          </a:xfrm>
          <a:prstGeom prst="rect">
            <a:avLst/>
          </a:prstGeom>
          <a:solidFill>
            <a:srgbClr val="052E24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1207008" y="22311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C8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0FFC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1591056" y="2231136"/>
            <a:ext cx="384048" cy="384048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1591056" y="22311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347472" y="2688336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Cross: {0,1,2,3,4}  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347472" y="2651760"/>
            <a:ext cx="3657600" cy="219456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438912" y="2651760"/>
            <a:ext cx="3474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347472" y="2871216"/>
            <a:ext cx="3657600" cy="1234440"/>
          </a:xfrm>
          <a:prstGeom prst="rect">
            <a:avLst/>
          </a:prstGeom>
          <a:solidFill>
            <a:srgbClr val="052E24"/>
          </a:solidFill>
          <a:ln cap="flat" cmpd="sng" w="952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438912" y="2898648"/>
            <a:ext cx="3474720" cy="1179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Assign  grid[r][c] = (r + 2c) % 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Cross at (r,c):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center         = (r + 2c) % 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up/down      = center ±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left/right     = center ±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→ {c-2, c-1, c, c+1, c+2} mod 5 = {0..4}  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347472" y="3968496"/>
            <a:ext cx="3657600" cy="27432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438912" y="3968496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  (N × M)  —  two nested loops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4160520" y="676656"/>
            <a:ext cx="4754880" cy="4315968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4160520" y="676656"/>
            <a:ext cx="822960" cy="237744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4233672" y="676656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Java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" name="Google Shape;158;p5"/>
          <p:cNvCxnSpPr/>
          <p:nvPr/>
        </p:nvCxnSpPr>
        <p:spPr>
          <a:xfrm>
            <a:off x="4160520" y="914400"/>
            <a:ext cx="4754880" cy="0"/>
          </a:xfrm>
          <a:prstGeom prst="straightConnector1">
            <a:avLst/>
          </a:prstGeom>
          <a:noFill/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5"/>
          <p:cNvSpPr/>
          <p:nvPr/>
        </p:nvSpPr>
        <p:spPr>
          <a:xfrm>
            <a:off x="4306824" y="969264"/>
            <a:ext cx="4462272" cy="3913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static int[][] solve(int N, int M)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int[][] grid = new int[N][M];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for (int r = 0; r &lt; N; r++)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for (int c = 0; c &lt; M; c++)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grid[r][c] = (r + 2 * c) % 5;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return grid;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Proof: cross at (r, c) contains: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  center     = (r + 2c)       % 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  up/down    = (r±1 + 2c)     % 5  → center ±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  left/right = (r + 2(c±1))   % 5  → center ± 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  { center−2, center−1, center,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    center+1, center+2 } mod 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  = { 0, 1, 2, 3, 4 }  ✓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Official variant uses the same idea: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grid[r][c] = (2*r + c) % 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(changes by 1 horizontally, 2 vertically)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Both are valid.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228600" y="640080"/>
            <a:ext cx="45720" cy="4389120"/>
          </a:xfrm>
          <a:prstGeom prst="rect">
            <a:avLst/>
          </a:prstGeom>
          <a:solidFill>
            <a:srgbClr val="F0C24B"/>
          </a:solidFill>
          <a:ln cap="flat" cmpd="sng" w="12700">
            <a:solidFill>
              <a:srgbClr val="F0C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F0C24B"/>
          </a:solidFill>
          <a:ln cap="flat" cmpd="sng" w="12700">
            <a:solidFill>
              <a:srgbClr val="F0C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Mycelium  —  Problem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F0C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C24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C24B"/>
                </a:solidFill>
                <a:latin typeface="Calibri"/>
                <a:ea typeface="Calibri"/>
                <a:cs typeface="Calibri"/>
                <a:sym typeface="Calibri"/>
              </a:rPr>
              <a:t>Rank 2+3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347472" y="694944"/>
            <a:ext cx="43891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Grass (G) and mycelium (M) start at two points 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an infinite grid. Grass claims new cells every 2 ticks;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mycelium every 7 ticks. Count cells mycelium claims.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347472" y="1463040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Expansion timeline (grass wins all ties):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347472" y="1691640"/>
            <a:ext cx="475488" cy="384048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347472" y="1691640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t=2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347472" y="1883664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886968" y="1691640"/>
            <a:ext cx="475488" cy="384048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886968" y="1691640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t=4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886968" y="1883664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1426464" y="1691640"/>
            <a:ext cx="475488" cy="384048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1426464" y="1691640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t=6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1426464" y="1883664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1965960" y="1691640"/>
            <a:ext cx="475488" cy="384048"/>
          </a:xfrm>
          <a:prstGeom prst="rect">
            <a:avLst/>
          </a:prstGeom>
          <a:solidFill>
            <a:srgbClr val="2D1D00"/>
          </a:solidFill>
          <a:ln cap="flat" cmpd="sng" w="9525">
            <a:solidFill>
              <a:srgbClr val="F0C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1965960" y="1691640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C24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0C24B"/>
                </a:solidFill>
                <a:latin typeface="Calibri"/>
                <a:ea typeface="Calibri"/>
                <a:cs typeface="Calibri"/>
                <a:sym typeface="Calibri"/>
              </a:rPr>
              <a:t>t=7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1965960" y="1883664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C24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C24B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2505456" y="1691640"/>
            <a:ext cx="475488" cy="384048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2505456" y="1691640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t=8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2505456" y="1883664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3044952" y="1691640"/>
            <a:ext cx="475488" cy="384048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3044952" y="1691640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t=10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3044952" y="1883664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3584448" y="1691640"/>
            <a:ext cx="475488" cy="384048"/>
          </a:xfrm>
          <a:prstGeom prst="rect">
            <a:avLst/>
          </a:prstGeom>
          <a:solidFill>
            <a:srgbClr val="2D1D00"/>
          </a:solidFill>
          <a:ln cap="flat" cmpd="sng" w="9525">
            <a:solidFill>
              <a:srgbClr val="F0C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3584448" y="1691640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C24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0C24B"/>
                </a:solidFill>
                <a:latin typeface="Calibri"/>
                <a:ea typeface="Calibri"/>
                <a:cs typeface="Calibri"/>
                <a:sym typeface="Calibri"/>
              </a:rPr>
              <a:t>t=14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3584448" y="1883664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C24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C24B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347472" y="2176272"/>
            <a:ext cx="4389120" cy="292608"/>
          </a:xfrm>
          <a:prstGeom prst="rect">
            <a:avLst/>
          </a:prstGeom>
          <a:solidFill>
            <a:srgbClr val="2D0D0D"/>
          </a:solidFill>
          <a:ln cap="flat" cmpd="sng" w="952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438912" y="2176272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⚠  Simple formula  7·dm &lt; 2·dg  is WRONG — paths block each other!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347472" y="3977640"/>
            <a:ext cx="4389120" cy="27432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438912" y="397764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  (D²·log D)  main subtask;  O(log D) closed-form for bonus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4892040" y="694944"/>
            <a:ext cx="4023360" cy="219456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4983480" y="69494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4892040" y="914400"/>
            <a:ext cx="4023360" cy="1828800"/>
          </a:xfrm>
          <a:prstGeom prst="rect">
            <a:avLst/>
          </a:prstGeom>
          <a:solidFill>
            <a:srgbClr val="052E24"/>
          </a:solidFill>
          <a:ln cap="flat" cmpd="sng" w="952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4983480" y="941832"/>
            <a:ext cx="3840480" cy="1773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Use two BFS queues with timestamps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1. grassQ — each cell expands at time+2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2. mycQ  — each cell expands at time+7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At each tick: process ALL grass first,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then mycelium. First arrival owns the cell.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4892040" y="2651760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Simulation steps: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4892040" y="288950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24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0C24B"/>
                </a:solidFill>
                <a:latin typeface="Consolas"/>
                <a:ea typeface="Consolas"/>
                <a:cs typeface="Consolas"/>
                <a:sym typeface="Consolas"/>
              </a:rPr>
              <a:t>Start: tiles = {G_pos→G, M_pos→M}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4892040" y="316382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Loop while mycQ not empty: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4892040" y="343814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1. Drain grassQ for current tick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4892040" y="371246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2. Drain mycQ for current tick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4892040" y="398678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3. Each expansion adds neighbors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4892040" y="426110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at (tick + delay) to its queue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4892040" y="453542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24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0C24B"/>
                </a:solidFill>
                <a:latin typeface="Consolas"/>
                <a:ea typeface="Consolas"/>
                <a:cs typeface="Consolas"/>
                <a:sym typeface="Consolas"/>
              </a:rPr>
              <a:t>Count tiles with value 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F0C24B"/>
          </a:solidFill>
          <a:ln cap="flat" cmpd="sng" w="12700">
            <a:solidFill>
              <a:srgbClr val="F0C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Mycelium  —  Java Implementation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182880" y="621792"/>
            <a:ext cx="8778240" cy="4453128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182880" y="621792"/>
            <a:ext cx="914400" cy="256032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256032" y="62179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Java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" name="Google Shape;223;p7"/>
          <p:cNvCxnSpPr/>
          <p:nvPr/>
        </p:nvCxnSpPr>
        <p:spPr>
          <a:xfrm>
            <a:off x="182880" y="877824"/>
            <a:ext cx="8778240" cy="0"/>
          </a:xfrm>
          <a:prstGeom prst="straightConnector1">
            <a:avLst/>
          </a:prstGeom>
          <a:noFill/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7"/>
          <p:cNvSpPr/>
          <p:nvPr/>
        </p:nvSpPr>
        <p:spPr>
          <a:xfrm>
            <a:off x="347472" y="932688"/>
            <a:ext cx="8467344" cy="4059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static final int G=2, M=7;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static final int[][] DIRS={{0,1},{0,-1},{1,0},{-1,0}};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static long key(long x,long y){return x*2_000_000_007L+y;}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static long solve(int xg,int yg,int xm,int ym)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Deque&lt;long[]&gt; gQ=new ArrayDeque&lt;&gt;(), mQ=new ArrayDeque&lt;&gt;();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Map&lt;Long,Character&gt; tiles=new HashMap&lt;&gt;();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tiles.put(key(xg,yg),'G'); tiles.put(key(xm,ym),'M');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gQ.add(new long[]{xg,yg,G}); mQ.add(new long[]{xm,ym,M});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int time=1;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while (!mQ.isEmpty())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// Grass FIRST at each tick — wins ties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while (!gQ.isEmpty() &amp;&amp; gQ.peek()[2]==time)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long[] c=gQ.poll();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for (int[] d:DIRS)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long nx=c[0]+d[0], ny=c[1]+d[1];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if (tiles.putIfAbsent(key(nx,ny),'G')==null)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    gQ.add(new long[]{nx,ny,time+G});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while (!mQ.isEmpty() &amp;&amp; mQ.peek()[2]==time)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long[] c=mQ.poll();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for (int[] d:DIRS)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long nx=c[0]+d[0], ny=c[1]+d[1];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if (tiles.putIfAbsent(key(nx,ny),'M')==null)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    mQ.add(new long[]{nx,ny,time+M});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time++;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return Collections.frequency(tiles.values(),'M');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"/>
          <p:cNvSpPr/>
          <p:nvPr/>
        </p:nvSpPr>
        <p:spPr>
          <a:xfrm>
            <a:off x="228600" y="640080"/>
            <a:ext cx="45720" cy="4389120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Splitters  —  Problem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Rank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347472" y="694944"/>
            <a:ext cx="4297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 factory grid has conveyors (^v&lt;&gt;), splitters (S),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and destroyers (X). Items enter at (0,0).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What fraction of items exits the grid boundary?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347472" y="1463040"/>
            <a:ext cx="402336" cy="402336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347472" y="146304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347472" y="1901952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Conveyor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1737360" y="1463040"/>
            <a:ext cx="402336" cy="402336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1737360" y="146304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FF8C42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1737360" y="1901952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Splitter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3127248" y="1463040"/>
            <a:ext cx="402336" cy="402336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3127248" y="146304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FF6B6B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3127248" y="1901952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Destroy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347472" y="2194560"/>
            <a:ext cx="4297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 splits equally among valid exits: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  Valid = destroy tile OR conveyor NOT pointing back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347472" y="3977640"/>
            <a:ext cx="4297680" cy="27432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438912" y="39776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  (N × M)  —  BFS topological traversal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4828032" y="694944"/>
            <a:ext cx="4059936" cy="219456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4919472" y="694944"/>
            <a:ext cx="38770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4828032" y="914400"/>
            <a:ext cx="4059936" cy="2286000"/>
          </a:xfrm>
          <a:prstGeom prst="rect">
            <a:avLst/>
          </a:prstGeom>
          <a:solidFill>
            <a:srgbClr val="052E24"/>
          </a:solidFill>
          <a:ln cap="flat" cmpd="sng" w="952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4919472" y="941832"/>
            <a:ext cx="3877056" cy="2231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Track probability as EXACT fractions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(BigDecimal or Fraction), not floats.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BFS from (0,0):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Conveyor → pass all prob to next cell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Splitter → divide equally among exits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Destroyer → prob is lost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Off-grid → collected!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Return answer as reduced fraction p/q.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4828032" y="3127248"/>
            <a:ext cx="40599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Why exact fractions?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4828032" y="3364992"/>
            <a:ext cx="405993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Splitters divide by 2 or 3. After many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divisions, floating-point error accumulates.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BigDecimal with scale=20 is exact.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Splitters  —  Java Implementation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182880" y="621792"/>
            <a:ext cx="8778240" cy="4453128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182880" y="621792"/>
            <a:ext cx="914400" cy="256032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256032" y="62179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Java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9"/>
          <p:cNvCxnSpPr/>
          <p:nvPr/>
        </p:nvCxnSpPr>
        <p:spPr>
          <a:xfrm>
            <a:off x="182880" y="877824"/>
            <a:ext cx="8778240" cy="0"/>
          </a:xfrm>
          <a:prstGeom prst="straightConnector1">
            <a:avLst/>
          </a:prstGeom>
          <a:noFill/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9"/>
          <p:cNvSpPr/>
          <p:nvPr/>
        </p:nvSpPr>
        <p:spPr>
          <a:xfrm>
            <a:off x="347472" y="932688"/>
            <a:ext cx="8467344" cy="4059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static BigDecimal[] solve(int N, int M, char[][] grid)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Map&lt;Integer,BigDecimal&gt; prob = new HashMap&lt;&gt;();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prob.put(0, BigDecimal.ONE);            // enters at (0,0)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BigDecimal out = BigDecimal.ZERO;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Deque&lt;int[]&gt; Q = new ArrayDeque&lt;&gt;();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Q.add(new int[]{0,0});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boolean[] seen = new boolean[N*M];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while (!Q.isEmpty())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int[] rc=Q.poll(); int r=rc[0],c=rc[1],id=r*M+c;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if (seen[id]) continue;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seen[id]=true;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BigDecimal p=prob.getOrDefault(id,BigDecimal.ZERO);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if (p.signum()==0) continue;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char t=grid[r][c];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if (t=='X') continue;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if ("^v&lt;&gt;".indexOf(t)&gt;=0)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int[] nx=step(r,c,t);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if (inBounds(nx[0],nx[1],N,M))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prob.merge(nx[0]*M+nx[1],p,BigDecimal::add);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Q.add(nx);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} else out=out.add(p);      // exits grid → collected!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} else if (t=='S')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List&lt;int[]&gt; exits=validExits(r,c,grid,N,M);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BigDecimal share=p.divide(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BigDecimal.valueOf(exits.size()),20,HALF_UP);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for (int[] e:exits)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prob.merge(e[0]*M+e[1],share,BigDecimal::add);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Q.add(e);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return reduceFraction(out);   // → {numerator, denominator}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"/>
          <p:cNvSpPr/>
          <p:nvPr/>
        </p:nvSpPr>
        <p:spPr>
          <a:xfrm>
            <a:off x="228600" y="640080"/>
            <a:ext cx="45720" cy="4389120"/>
          </a:xfrm>
          <a:prstGeom prst="rect">
            <a:avLst/>
          </a:prstGeom>
          <a:solidFill>
            <a:srgbClr val="B792F5"/>
          </a:solidFill>
          <a:ln cap="flat" cmpd="sng" w="12700">
            <a:solidFill>
              <a:srgbClr val="B792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B792F5"/>
          </a:solidFill>
          <a:ln cap="flat" cmpd="sng" w="12700">
            <a:solidFill>
              <a:srgbClr val="B792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Splitters 2  —  Problem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B792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92F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792F5"/>
                </a:solidFill>
                <a:latin typeface="Calibri"/>
                <a:ea typeface="Calibri"/>
                <a:cs typeface="Calibri"/>
                <a:sym typeface="Calibri"/>
              </a:rPr>
              <a:t>Rank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347472" y="694944"/>
            <a:ext cx="4297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Given P, A, B — construct a factory grid (≤5000 cells)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that collects exactly  P / (2^A × 3^B)  of items.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Output grid dimensions and tile layout.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347472" y="1444752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Building blocks: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347472" y="1691640"/>
            <a:ext cx="4297680" cy="3200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347472" y="1691640"/>
            <a:ext cx="54864" cy="320040"/>
          </a:xfrm>
          <a:prstGeom prst="rect">
            <a:avLst/>
          </a:prstGeom>
          <a:solidFill>
            <a:srgbClr val="B792F5"/>
          </a:solidFill>
          <a:ln cap="flat" cmpd="sng" w="12700">
            <a:solidFill>
              <a:srgbClr val="B792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475488" y="1691640"/>
            <a:ext cx="4169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2-way split   routes 1/2 each to 2 exits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347472" y="2057400"/>
            <a:ext cx="4297680" cy="3200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347472" y="2057400"/>
            <a:ext cx="54864" cy="32004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475488" y="2057400"/>
            <a:ext cx="4169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3-way split   routes 1/3 each to 3 exits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347472" y="2423160"/>
            <a:ext cx="4297680" cy="3200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347472" y="2423160"/>
            <a:ext cx="54864" cy="320040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475488" y="2423160"/>
            <a:ext cx="4169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Destroy tile   discards unwanted stream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347472" y="3977640"/>
            <a:ext cx="4297680" cy="27432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438912" y="39776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  (A + B + log P)  grid rows to construct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4828032" y="694944"/>
            <a:ext cx="4059936" cy="219456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4919472" y="694944"/>
            <a:ext cx="38770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4828032" y="914400"/>
            <a:ext cx="4059936" cy="1920240"/>
          </a:xfrm>
          <a:prstGeom prst="rect">
            <a:avLst/>
          </a:prstGeom>
          <a:solidFill>
            <a:srgbClr val="052E24"/>
          </a:solidFill>
          <a:ln cap="flat" cmpd="sng" w="952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0"/>
          <p:cNvSpPr/>
          <p:nvPr/>
        </p:nvSpPr>
        <p:spPr>
          <a:xfrm>
            <a:off x="4919472" y="941832"/>
            <a:ext cx="3877056" cy="1865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Chain A rows of 2-way splits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→ produces 2^A equal substreams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Chain B rows of 3-way splits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→ produces 2^A × 3^B equal substreams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Route exactly P of those substreams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to the output conveyor.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Destroy the remaining streams.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4828032" y="2743200"/>
            <a:ext cx="40599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92F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792F5"/>
                </a:solidFill>
                <a:latin typeface="Calibri"/>
                <a:ea typeface="Calibri"/>
                <a:cs typeface="Calibri"/>
                <a:sym typeface="Calibri"/>
              </a:rPr>
              <a:t>Example: P=3, A=2, B=1  →  3/12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4828032" y="3017520"/>
            <a:ext cx="4059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Row 0: [S]           → 1/2 each (2 streams)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4828032" y="3310128"/>
            <a:ext cx="4059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Row 1: [S] [S]       → 1/4 each (4 streams)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4828032" y="3602736"/>
            <a:ext cx="4059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Row 2: [S][S][S][S]  → 1/12 each (12 streams)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4828032" y="3895344"/>
            <a:ext cx="4059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Row 3: [&gt;][X][&gt;][X][&gt;][X]...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4828032" y="4187952"/>
            <a:ext cx="4059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        keep drop  keep drop  keep drop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4828032" y="4480560"/>
            <a:ext cx="4059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92F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B792F5"/>
                </a:solidFill>
                <a:latin typeface="Consolas"/>
                <a:ea typeface="Consolas"/>
                <a:cs typeface="Consolas"/>
                <a:sym typeface="Consolas"/>
              </a:rPr>
              <a:t>       → collects exactly 3 × 1/12 = 1/4 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1"/>
          <p:cNvSpPr txBox="1"/>
          <p:nvPr/>
        </p:nvSpPr>
        <p:spPr>
          <a:xfrm>
            <a:off x="267525" y="163150"/>
            <a:ext cx="82572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Grid Fill Solution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2"/>
          <p:cNvSpPr/>
          <p:nvPr/>
        </p:nvSpPr>
        <p:spPr>
          <a:xfrm>
            <a:off x="228600" y="640080"/>
            <a:ext cx="45720" cy="4389120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2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2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Lecture Main  —  Problem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2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Rank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347472" y="694944"/>
            <a:ext cx="4297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An N×M lecture hall has available (-) and blocked (#)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seats. Select K seats that minimize the maximum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Manhattan distance between any two chosen seats.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347472" y="1444752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Coordinate rotation trick: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347472" y="1700784"/>
            <a:ext cx="4297680" cy="29260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438912" y="1700784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Transform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1444752" y="1700784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(r, c)  →  (u, v) = (r+c, r-c)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347472" y="2029968"/>
            <a:ext cx="4297680" cy="29260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2"/>
          <p:cNvSpPr/>
          <p:nvPr/>
        </p:nvSpPr>
        <p:spPr>
          <a:xfrm>
            <a:off x="438912" y="2029968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1444752" y="202996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Manhattan dist  →  Chebyshev dist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347472" y="2359152"/>
            <a:ext cx="4297680" cy="29260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2"/>
          <p:cNvSpPr/>
          <p:nvPr/>
        </p:nvSpPr>
        <p:spPr>
          <a:xfrm>
            <a:off x="438912" y="2359152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Chebyshev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1444752" y="235915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max(|Δu|, |Δv|)  ≤  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347472" y="2688336"/>
            <a:ext cx="4297680" cy="29260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2"/>
          <p:cNvSpPr/>
          <p:nvPr/>
        </p:nvSpPr>
        <p:spPr>
          <a:xfrm>
            <a:off x="438912" y="2688336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Ball shape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1444752" y="2688336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Circle  →  Axis-aligned square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347472" y="3977640"/>
            <a:ext cx="4297680" cy="27432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2"/>
          <p:cNvSpPr/>
          <p:nvPr/>
        </p:nvSpPr>
        <p:spPr>
          <a:xfrm>
            <a:off x="438912" y="39776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  (K² × log(N+M))  binary search × window check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4828032" y="694944"/>
            <a:ext cx="4059936" cy="219456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2"/>
          <p:cNvSpPr/>
          <p:nvPr/>
        </p:nvSpPr>
        <p:spPr>
          <a:xfrm>
            <a:off x="4919472" y="694944"/>
            <a:ext cx="38770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4828032" y="914400"/>
            <a:ext cx="4059936" cy="2834640"/>
          </a:xfrm>
          <a:prstGeom prst="rect">
            <a:avLst/>
          </a:prstGeom>
          <a:solidFill>
            <a:srgbClr val="052E24"/>
          </a:solidFill>
          <a:ln cap="flat" cmpd="sng" w="952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2"/>
          <p:cNvSpPr/>
          <p:nvPr/>
        </p:nvSpPr>
        <p:spPr>
          <a:xfrm>
            <a:off x="4919472" y="941832"/>
            <a:ext cx="3877056" cy="2779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Binary search on D (the answer)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1. Map each available seat 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 (u, v) = (r+c, r-c)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2. Build 2D prefix-sum array for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 O(1) count in any rectangle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3. For each D, check all windows of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 size 2D × 2D in (u,v) space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4. Any window with ≥ K seats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 → D is achievable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4828032" y="3657600"/>
            <a:ext cx="40599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Why does rotation help?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4828032" y="3895344"/>
            <a:ext cx="40599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Manhattan ball is a diamond — hard to query.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After rotation it becomes a square — easy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to query with a 2D prefix sum!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3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3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Lecture Main  —  Java Implementation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182880" y="621792"/>
            <a:ext cx="8778240" cy="4453128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3"/>
          <p:cNvSpPr/>
          <p:nvPr/>
        </p:nvSpPr>
        <p:spPr>
          <a:xfrm>
            <a:off x="182880" y="621792"/>
            <a:ext cx="914400" cy="256032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256032" y="62179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Java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" name="Google Shape;358;p13"/>
          <p:cNvCxnSpPr/>
          <p:nvPr/>
        </p:nvCxnSpPr>
        <p:spPr>
          <a:xfrm>
            <a:off x="182880" y="877824"/>
            <a:ext cx="8778240" cy="0"/>
          </a:xfrm>
          <a:prstGeom prst="straightConnector1">
            <a:avLst/>
          </a:prstGeom>
          <a:noFill/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p13"/>
          <p:cNvSpPr/>
          <p:nvPr/>
        </p:nvSpPr>
        <p:spPr>
          <a:xfrm>
            <a:off x="347472" y="932688"/>
            <a:ext cx="8467344" cy="4059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Transform (r,c) → (u,v)=(r+c, r-c): Manhattan → Chebyshev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static int minMaxDist(List&lt;int[]&gt; seats,int K,int N,int M)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int S=seats.size(), maxU=N+M-1, maxV=N+M-1;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int[][] uv=new int[S][4];     // [u, v, r, c]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for (int i=0;i&lt;S;i++)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int r=seats.get(i)[0], c=seats.get(i)[1];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uv[i]=new int[]{r+c, r-c+N-1, r, c};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// 2D prefix-sum → O(1) rectangle count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int[][] grid=new int[maxU][maxV];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for (int[] s:uv) grid[s[0]][s[1]]++;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int[][] p=buildPrefixSum(grid,maxU,maxV);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// Binary search on 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int lo=0,hi=N+M;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while (lo&lt;hi)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int mid=(lo+hi)/2;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if (canFit(uv,p,mid,K,maxV)) hi=mid; else lo=mid+1;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return lo;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static boolean canFit(int[][] uv,int[][] p,int D,int K,int mV){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for (int[] a:uv)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int u2=Math.min(a[0]+2*D,p.length-2);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int v2=Math.min(a[1]+2*D,mV-1);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if (p[u2+1][v2+1]-p[a[0]][v2+1]-p[u2+1][a[1]]+p[a[0]][a[1]]&gt;=K)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return true;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return false;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buildPrefixSum: standard 2D prefix-sum, O(R·C) build / O(1) query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"/>
          <p:cNvSpPr/>
          <p:nvPr/>
        </p:nvSpPr>
        <p:spPr>
          <a:xfrm>
            <a:off x="228600" y="640080"/>
            <a:ext cx="45720" cy="438912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4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4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4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Multiplication Easy  —  Problem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4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Rank 3+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347472" y="694944"/>
            <a:ext cx="4297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Find N positive integers a[1..N] to best satisfy 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weighted constraints:  a[r] × a[c] ≈ V (weight W).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After optimizing, discard D highest-error constraints.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347472" y="1444752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Log transform  →  linear regression: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402336" y="1700784"/>
            <a:ext cx="4242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a[r] × a[c]  ≈  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402336" y="1956816"/>
            <a:ext cx="4242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⟹  log(a[r]) + log(a[c])  ≈  log(V)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402336" y="2212848"/>
            <a:ext cx="4242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⟹  x[r] + x[c]  ≈  log(V)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402336" y="2468880"/>
            <a:ext cx="4242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    where  x[i] = log(a[i])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347472" y="2724912"/>
            <a:ext cx="4297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Now each constraint is  x[r] + x[c] ≈ log(V),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which is linear — solvable by coordinate descent!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347472" y="3977640"/>
            <a:ext cx="4297680" cy="27432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4"/>
          <p:cNvSpPr/>
          <p:nvPr/>
        </p:nvSpPr>
        <p:spPr>
          <a:xfrm>
            <a:off x="438912" y="39776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  (iters × N × M)  ~100 iterations to converge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4828032" y="694944"/>
            <a:ext cx="4059936" cy="219456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4"/>
          <p:cNvSpPr/>
          <p:nvPr/>
        </p:nvSpPr>
        <p:spPr>
          <a:xfrm>
            <a:off x="4919472" y="694944"/>
            <a:ext cx="38770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4828032" y="914400"/>
            <a:ext cx="4059936" cy="2468880"/>
          </a:xfrm>
          <a:prstGeom prst="rect">
            <a:avLst/>
          </a:prstGeom>
          <a:solidFill>
            <a:srgbClr val="052E24"/>
          </a:solidFill>
          <a:ln cap="flat" cmpd="sng" w="952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4"/>
          <p:cNvSpPr/>
          <p:nvPr/>
        </p:nvSpPr>
        <p:spPr>
          <a:xfrm>
            <a:off x="4919472" y="941832"/>
            <a:ext cx="3877056" cy="241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Weighted Median Coordinate Descent: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For each variable x[i], fix all others.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Optimal x[i] = weighted median of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{ log(V) − x[j]  for each constraint on i 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Repeat 50–100 iterations until stable.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Round result: a[i] = round(exp(x[i]))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Finally: compute per-constraint error,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discard the D with highest error.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4828032" y="3291840"/>
            <a:ext cx="40599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Why weighted median (not mean)?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4828032" y="3538728"/>
            <a:ext cx="4059936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We minimize weighted L1 error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(not L2). L1 is minimized by the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weighted median, not the mean.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5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5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5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Multiplication Easy  —  Java Implementation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182880" y="621792"/>
            <a:ext cx="8778240" cy="4453128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5"/>
          <p:cNvSpPr/>
          <p:nvPr/>
        </p:nvSpPr>
        <p:spPr>
          <a:xfrm>
            <a:off x="182880" y="621792"/>
            <a:ext cx="914400" cy="256032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5"/>
          <p:cNvSpPr/>
          <p:nvPr/>
        </p:nvSpPr>
        <p:spPr>
          <a:xfrm>
            <a:off x="256032" y="62179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Java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9" name="Google Shape;399;p15"/>
          <p:cNvCxnSpPr/>
          <p:nvPr/>
        </p:nvCxnSpPr>
        <p:spPr>
          <a:xfrm>
            <a:off x="182880" y="877824"/>
            <a:ext cx="8778240" cy="0"/>
          </a:xfrm>
          <a:prstGeom prst="straightConnector1">
            <a:avLst/>
          </a:prstGeom>
          <a:noFill/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0" name="Google Shape;400;p15"/>
          <p:cNvSpPr/>
          <p:nvPr/>
        </p:nvSpPr>
        <p:spPr>
          <a:xfrm>
            <a:off x="347472" y="932688"/>
            <a:ext cx="8467344" cy="4059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cons[i] = {r, c, V, W}  (1-indexed r and c)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static int[] solve(int N,int M,int D,int[][] cons)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double[] x=new double[N+1];     // x[i] = log(a[i])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for (int iter=0;iter&lt;100;iter++) {   // coordinate descent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for (int i=1;i&lt;=N;i++)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List&lt;double[]&gt; tgts=new ArrayList&lt;&gt;();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for (int[] con:cons)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if (con[0]==i) tgts.add(new double[]{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    Math.log(con[2])-x[con[1]], con[3]});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else if (con[1]==i) tgts.add(new double[]{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    Math.log(con[2])-x[con[0]], con[3]});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if (!tgts.isEmpty()) x[i]=weightedMedian(tgts);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int[] a=new int[N+1];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for (int i=1;i&lt;=N;i++)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a[i]=(int)Math.max(1,Math.min(1e9,Math.round(Math.exp(x[i]))));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double[] err=new double[cons.length];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for (int i=0;i&lt;cons.length;i++)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long pred=(long)a[cons[i][0]]*a[cons[i][1]];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err[i]=cons[i][3]*Math.abs(pred-cons[i][2])/(double)cons[i][2];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return discardTopD(err,D);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static double weightedMedian(List&lt;double[]&gt; vw)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vw.sort(Comparator.comparingDouble(p-&gt;p[0]));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double tot=vw.stream().mapToDouble(p-&gt;p[1]).sum(), cum=0;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for (double[] p:vw) { cum+=p[1]; if (cum*2&gt;=tot) return p[0];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return vw.get(vw.size()-1)[0];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409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6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6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6"/>
          <p:cNvSpPr/>
          <p:nvPr/>
        </p:nvSpPr>
        <p:spPr>
          <a:xfrm>
            <a:off x="4754880" y="-731520"/>
            <a:ext cx="5029200" cy="6583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1B22"/>
              </a:buClr>
              <a:buSzPts val="42000"/>
              <a:buFont typeface="Calibri"/>
              <a:buNone/>
            </a:pPr>
            <a:r>
              <a:rPr b="1" i="0" lang="en-US" sz="42000" u="none" cap="none" strike="noStrike">
                <a:solidFill>
                  <a:srgbClr val="161B22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4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502920" y="822960"/>
            <a:ext cx="5943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400"/>
              <a:buFont typeface="Calibri"/>
              <a:buNone/>
            </a:pPr>
            <a:r>
              <a:rPr b="1" i="0" lang="en-US" sz="7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7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6"/>
          <p:cNvSpPr/>
          <p:nvPr/>
        </p:nvSpPr>
        <p:spPr>
          <a:xfrm>
            <a:off x="502920" y="2121408"/>
            <a:ext cx="4206240" cy="54864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6"/>
          <p:cNvSpPr/>
          <p:nvPr/>
        </p:nvSpPr>
        <p:spPr>
          <a:xfrm>
            <a:off x="502920" y="2322576"/>
            <a:ext cx="310896" cy="310896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6"/>
          <p:cNvSpPr/>
          <p:nvPr/>
        </p:nvSpPr>
        <p:spPr>
          <a:xfrm>
            <a:off x="502920" y="232257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6"/>
          <p:cNvSpPr/>
          <p:nvPr/>
        </p:nvSpPr>
        <p:spPr>
          <a:xfrm>
            <a:off x="914400" y="2267712"/>
            <a:ext cx="3657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Cross  —  (r+2c)%5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502920" y="2752344"/>
            <a:ext cx="310896" cy="310896"/>
          </a:xfrm>
          <a:prstGeom prst="rect">
            <a:avLst/>
          </a:prstGeom>
          <a:solidFill>
            <a:srgbClr val="F0C24B"/>
          </a:solidFill>
          <a:ln cap="flat" cmpd="sng" w="12700">
            <a:solidFill>
              <a:srgbClr val="F0C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6"/>
          <p:cNvSpPr/>
          <p:nvPr/>
        </p:nvSpPr>
        <p:spPr>
          <a:xfrm>
            <a:off x="502920" y="275234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6"/>
          <p:cNvSpPr/>
          <p:nvPr/>
        </p:nvSpPr>
        <p:spPr>
          <a:xfrm>
            <a:off x="914400" y="2697480"/>
            <a:ext cx="3657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Mycelium  —  BFS dual-queue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6"/>
          <p:cNvSpPr/>
          <p:nvPr/>
        </p:nvSpPr>
        <p:spPr>
          <a:xfrm>
            <a:off x="502920" y="3182112"/>
            <a:ext cx="310896" cy="310896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6"/>
          <p:cNvSpPr/>
          <p:nvPr/>
        </p:nvSpPr>
        <p:spPr>
          <a:xfrm>
            <a:off x="502920" y="318211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6"/>
          <p:cNvSpPr/>
          <p:nvPr/>
        </p:nvSpPr>
        <p:spPr>
          <a:xfrm>
            <a:off x="914400" y="3127248"/>
            <a:ext cx="3657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Splitters  —  Exact fraction sim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6"/>
          <p:cNvSpPr/>
          <p:nvPr/>
        </p:nvSpPr>
        <p:spPr>
          <a:xfrm>
            <a:off x="502920" y="3611880"/>
            <a:ext cx="310896" cy="310896"/>
          </a:xfrm>
          <a:prstGeom prst="rect">
            <a:avLst/>
          </a:prstGeom>
          <a:solidFill>
            <a:srgbClr val="B792F5"/>
          </a:solidFill>
          <a:ln cap="flat" cmpd="sng" w="12700">
            <a:solidFill>
              <a:srgbClr val="B792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6"/>
          <p:cNvSpPr/>
          <p:nvPr/>
        </p:nvSpPr>
        <p:spPr>
          <a:xfrm>
            <a:off x="502920" y="361188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914400" y="3557016"/>
            <a:ext cx="3657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Splitters 2  —  Substream construction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6"/>
          <p:cNvSpPr/>
          <p:nvPr/>
        </p:nvSpPr>
        <p:spPr>
          <a:xfrm>
            <a:off x="502920" y="4041648"/>
            <a:ext cx="310896" cy="310896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6"/>
          <p:cNvSpPr/>
          <p:nvPr/>
        </p:nvSpPr>
        <p:spPr>
          <a:xfrm>
            <a:off x="502920" y="404164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914400" y="3986784"/>
            <a:ext cx="3657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Lecture Main  —  BinSearch + coord rotate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502920" y="4471416"/>
            <a:ext cx="310896" cy="310896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6"/>
          <p:cNvSpPr/>
          <p:nvPr/>
        </p:nvSpPr>
        <p:spPr>
          <a:xfrm>
            <a:off x="502920" y="447141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6"/>
          <p:cNvSpPr/>
          <p:nvPr/>
        </p:nvSpPr>
        <p:spPr>
          <a:xfrm>
            <a:off x="914400" y="4416552"/>
            <a:ext cx="3657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Multiplication  —  Log + weighted median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6"/>
          <p:cNvSpPr/>
          <p:nvPr/>
        </p:nvSpPr>
        <p:spPr>
          <a:xfrm>
            <a:off x="502920" y="4754880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github.com/calico-team/calico-sp26-public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7"/>
          <p:cNvSpPr/>
          <p:nvPr/>
        </p:nvSpPr>
        <p:spPr>
          <a:xfrm>
            <a:off x="0" y="0"/>
            <a:ext cx="128100" cy="5143500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7"/>
          <p:cNvSpPr/>
          <p:nvPr/>
        </p:nvSpPr>
        <p:spPr>
          <a:xfrm>
            <a:off x="411480" y="146304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D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8D9"/>
                </a:solidFill>
                <a:latin typeface="Calibri"/>
                <a:ea typeface="Calibri"/>
                <a:cs typeface="Calibri"/>
                <a:sym typeface="Calibri"/>
              </a:rPr>
              <a:t>SECTION 0</a:t>
            </a:r>
            <a:r>
              <a:rPr b="1" lang="en-US" sz="1300">
                <a:solidFill>
                  <a:srgbClr val="00B8D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7"/>
          <p:cNvSpPr/>
          <p:nvPr/>
        </p:nvSpPr>
        <p:spPr>
          <a:xfrm>
            <a:off x="411480" y="1828800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DFS/BFS code explanation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7"/>
          <p:cNvSpPr/>
          <p:nvPr/>
        </p:nvSpPr>
        <p:spPr>
          <a:xfrm>
            <a:off x="411480" y="28346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nodes · edges · directed · weighted · adjacency lists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8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8"/>
          <p:cNvSpPr/>
          <p:nvPr/>
        </p:nvSpPr>
        <p:spPr>
          <a:xfrm>
            <a:off x="0" y="0"/>
            <a:ext cx="54900" cy="658500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8"/>
          <p:cNvSpPr/>
          <p:nvPr/>
        </p:nvSpPr>
        <p:spPr>
          <a:xfrm>
            <a:off x="201168" y="0"/>
            <a:ext cx="8686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DFS — The Idea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8"/>
          <p:cNvSpPr/>
          <p:nvPr/>
        </p:nvSpPr>
        <p:spPr>
          <a:xfrm>
            <a:off x="274320" y="804672"/>
            <a:ext cx="8595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Imagine exploring a maze. At every fork, you pick one path and follow it as far as it goes — until you hit a dead end. Then you backtrack to the last fork and try the next path.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8"/>
          <p:cNvSpPr/>
          <p:nvPr/>
        </p:nvSpPr>
        <p:spPr>
          <a:xfrm>
            <a:off x="274320" y="1554480"/>
            <a:ext cx="8595300" cy="713100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8"/>
          <p:cNvSpPr/>
          <p:nvPr/>
        </p:nvSpPr>
        <p:spPr>
          <a:xfrm>
            <a:off x="347472" y="1719072"/>
            <a:ext cx="384000" cy="384000"/>
          </a:xfrm>
          <a:prstGeom prst="ellipse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8"/>
          <p:cNvSpPr/>
          <p:nvPr/>
        </p:nvSpPr>
        <p:spPr>
          <a:xfrm>
            <a:off x="347472" y="1719072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868680" y="1609344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Mark current node as visited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8"/>
          <p:cNvSpPr/>
          <p:nvPr/>
        </p:nvSpPr>
        <p:spPr>
          <a:xfrm>
            <a:off x="868680" y="1901952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Prevents infinite loops on graphs with cycles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8"/>
          <p:cNvSpPr/>
          <p:nvPr/>
        </p:nvSpPr>
        <p:spPr>
          <a:xfrm>
            <a:off x="274320" y="2359152"/>
            <a:ext cx="8595300" cy="71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8"/>
          <p:cNvSpPr/>
          <p:nvPr/>
        </p:nvSpPr>
        <p:spPr>
          <a:xfrm>
            <a:off x="347472" y="2523744"/>
            <a:ext cx="384000" cy="384000"/>
          </a:xfrm>
          <a:prstGeom prst="ellipse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8"/>
          <p:cNvSpPr/>
          <p:nvPr/>
        </p:nvSpPr>
        <p:spPr>
          <a:xfrm>
            <a:off x="347472" y="2523744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8"/>
          <p:cNvSpPr/>
          <p:nvPr/>
        </p:nvSpPr>
        <p:spPr>
          <a:xfrm>
            <a:off x="868680" y="2414016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Loop through all neighbors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868680" y="2706624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For each neighbor not yet visited...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274320" y="3163824"/>
            <a:ext cx="8595300" cy="713100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8"/>
          <p:cNvSpPr/>
          <p:nvPr/>
        </p:nvSpPr>
        <p:spPr>
          <a:xfrm>
            <a:off x="347472" y="3328416"/>
            <a:ext cx="384000" cy="384000"/>
          </a:xfrm>
          <a:prstGeom prst="ellipse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8"/>
          <p:cNvSpPr/>
          <p:nvPr/>
        </p:nvSpPr>
        <p:spPr>
          <a:xfrm>
            <a:off x="347472" y="3328416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8"/>
          <p:cNvSpPr/>
          <p:nvPr/>
        </p:nvSpPr>
        <p:spPr>
          <a:xfrm>
            <a:off x="868680" y="3218688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Recursively visit each neighbor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8"/>
          <p:cNvSpPr/>
          <p:nvPr/>
        </p:nvSpPr>
        <p:spPr>
          <a:xfrm>
            <a:off x="868680" y="3511296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Go as deep as possible before coming back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8"/>
          <p:cNvSpPr/>
          <p:nvPr/>
        </p:nvSpPr>
        <p:spPr>
          <a:xfrm>
            <a:off x="274320" y="3968496"/>
            <a:ext cx="8595300" cy="71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8"/>
          <p:cNvSpPr/>
          <p:nvPr/>
        </p:nvSpPr>
        <p:spPr>
          <a:xfrm>
            <a:off x="347472" y="4133088"/>
            <a:ext cx="384000" cy="384000"/>
          </a:xfrm>
          <a:prstGeom prst="ellipse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8"/>
          <p:cNvSpPr/>
          <p:nvPr/>
        </p:nvSpPr>
        <p:spPr>
          <a:xfrm>
            <a:off x="347472" y="413308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8"/>
          <p:cNvSpPr/>
          <p:nvPr/>
        </p:nvSpPr>
        <p:spPr>
          <a:xfrm>
            <a:off x="868680" y="4023360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Backtrack automatically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8"/>
          <p:cNvSpPr/>
          <p:nvPr/>
        </p:nvSpPr>
        <p:spPr>
          <a:xfrm>
            <a:off x="868680" y="4315968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When the recursive call returns, you're back at the fork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9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9"/>
          <p:cNvSpPr/>
          <p:nvPr/>
        </p:nvSpPr>
        <p:spPr>
          <a:xfrm>
            <a:off x="0" y="0"/>
            <a:ext cx="54900" cy="658500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9"/>
          <p:cNvSpPr/>
          <p:nvPr/>
        </p:nvSpPr>
        <p:spPr>
          <a:xfrm>
            <a:off x="201168" y="0"/>
            <a:ext cx="8686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BFS — The Idea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9"/>
          <p:cNvSpPr/>
          <p:nvPr/>
        </p:nvSpPr>
        <p:spPr>
          <a:xfrm>
            <a:off x="274320" y="804672"/>
            <a:ext cx="8595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Imagine dropping a stone into a pond. The ripple expands outward — first it reaches everything 1 step away, then 2 steps, then 3... BFS works exactly like that.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9"/>
          <p:cNvSpPr/>
          <p:nvPr/>
        </p:nvSpPr>
        <p:spPr>
          <a:xfrm>
            <a:off x="274320" y="1554480"/>
            <a:ext cx="8595300" cy="713100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9"/>
          <p:cNvSpPr/>
          <p:nvPr/>
        </p:nvSpPr>
        <p:spPr>
          <a:xfrm>
            <a:off x="347472" y="1719072"/>
            <a:ext cx="384000" cy="384000"/>
          </a:xfrm>
          <a:prstGeom prst="ellipse">
            <a:avLst/>
          </a:prstGeom>
          <a:solidFill>
            <a:srgbClr val="F0883E"/>
          </a:solidFill>
          <a:ln cap="flat" cmpd="sng" w="12700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9"/>
          <p:cNvSpPr/>
          <p:nvPr/>
        </p:nvSpPr>
        <p:spPr>
          <a:xfrm>
            <a:off x="347472" y="1719072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9"/>
          <p:cNvSpPr/>
          <p:nvPr/>
        </p:nvSpPr>
        <p:spPr>
          <a:xfrm>
            <a:off x="868680" y="1609344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Add start node to queue, mark visited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9"/>
          <p:cNvSpPr/>
          <p:nvPr/>
        </p:nvSpPr>
        <p:spPr>
          <a:xfrm>
            <a:off x="868680" y="1901952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Queue is FIFO — first in, first 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9"/>
          <p:cNvSpPr/>
          <p:nvPr/>
        </p:nvSpPr>
        <p:spPr>
          <a:xfrm>
            <a:off x="274320" y="2359152"/>
            <a:ext cx="8595300" cy="71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9"/>
          <p:cNvSpPr/>
          <p:nvPr/>
        </p:nvSpPr>
        <p:spPr>
          <a:xfrm>
            <a:off x="347472" y="2523744"/>
            <a:ext cx="384000" cy="384000"/>
          </a:xfrm>
          <a:prstGeom prst="ellipse">
            <a:avLst/>
          </a:prstGeom>
          <a:solidFill>
            <a:srgbClr val="F0883E"/>
          </a:solidFill>
          <a:ln cap="flat" cmpd="sng" w="12700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9"/>
          <p:cNvSpPr/>
          <p:nvPr/>
        </p:nvSpPr>
        <p:spPr>
          <a:xfrm>
            <a:off x="347472" y="2523744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9"/>
          <p:cNvSpPr/>
          <p:nvPr/>
        </p:nvSpPr>
        <p:spPr>
          <a:xfrm>
            <a:off x="868680" y="2414016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Dequeue front node, process 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9"/>
          <p:cNvSpPr/>
          <p:nvPr/>
        </p:nvSpPr>
        <p:spPr>
          <a:xfrm>
            <a:off x="868680" y="2706624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This node is at the current distance level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9"/>
          <p:cNvSpPr/>
          <p:nvPr/>
        </p:nvSpPr>
        <p:spPr>
          <a:xfrm>
            <a:off x="274320" y="3163824"/>
            <a:ext cx="8595300" cy="713100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9"/>
          <p:cNvSpPr/>
          <p:nvPr/>
        </p:nvSpPr>
        <p:spPr>
          <a:xfrm>
            <a:off x="347472" y="3328416"/>
            <a:ext cx="384000" cy="384000"/>
          </a:xfrm>
          <a:prstGeom prst="ellipse">
            <a:avLst/>
          </a:prstGeom>
          <a:solidFill>
            <a:srgbClr val="F0883E"/>
          </a:solidFill>
          <a:ln cap="flat" cmpd="sng" w="12700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9"/>
          <p:cNvSpPr/>
          <p:nvPr/>
        </p:nvSpPr>
        <p:spPr>
          <a:xfrm>
            <a:off x="347472" y="3328416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9"/>
          <p:cNvSpPr/>
          <p:nvPr/>
        </p:nvSpPr>
        <p:spPr>
          <a:xfrm>
            <a:off x="868680" y="3218688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Add all unvisited neighbors to queue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9"/>
          <p:cNvSpPr/>
          <p:nvPr/>
        </p:nvSpPr>
        <p:spPr>
          <a:xfrm>
            <a:off x="868680" y="3511296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They will be processed at distance + 1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9"/>
          <p:cNvSpPr/>
          <p:nvPr/>
        </p:nvSpPr>
        <p:spPr>
          <a:xfrm>
            <a:off x="274320" y="3968496"/>
            <a:ext cx="8595300" cy="71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9"/>
          <p:cNvSpPr/>
          <p:nvPr/>
        </p:nvSpPr>
        <p:spPr>
          <a:xfrm>
            <a:off x="347472" y="4133088"/>
            <a:ext cx="384000" cy="384000"/>
          </a:xfrm>
          <a:prstGeom prst="ellipse">
            <a:avLst/>
          </a:prstGeom>
          <a:solidFill>
            <a:srgbClr val="F0883E"/>
          </a:solidFill>
          <a:ln cap="flat" cmpd="sng" w="12700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9"/>
          <p:cNvSpPr/>
          <p:nvPr/>
        </p:nvSpPr>
        <p:spPr>
          <a:xfrm>
            <a:off x="347472" y="413308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9"/>
          <p:cNvSpPr/>
          <p:nvPr/>
        </p:nvSpPr>
        <p:spPr>
          <a:xfrm>
            <a:off x="868680" y="4023360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Repeat until queue is empty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9"/>
          <p:cNvSpPr/>
          <p:nvPr/>
        </p:nvSpPr>
        <p:spPr>
          <a:xfrm>
            <a:off x="868680" y="4315968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When queue empties, all reachable nodes are visited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0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0"/>
          <p:cNvSpPr/>
          <p:nvPr/>
        </p:nvSpPr>
        <p:spPr>
          <a:xfrm>
            <a:off x="0" y="5070348"/>
            <a:ext cx="9144000" cy="73200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0"/>
          <p:cNvSpPr/>
          <p:nvPr/>
        </p:nvSpPr>
        <p:spPr>
          <a:xfrm>
            <a:off x="457200" y="731520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 now </a:t>
            </a:r>
            <a:r>
              <a:rPr b="1" lang="en-US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better understand </a:t>
            </a: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graphs.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0"/>
          <p:cNvSpPr/>
          <p:nvPr/>
        </p:nvSpPr>
        <p:spPr>
          <a:xfrm>
            <a:off x="457200" y="182880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8D9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00B8D9"/>
                </a:solidFill>
                <a:latin typeface="Calibri"/>
                <a:ea typeface="Calibri"/>
                <a:cs typeface="Calibri"/>
                <a:sym typeface="Calibri"/>
              </a:rPr>
              <a:t>DFS · BFS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0"/>
          <p:cNvSpPr/>
          <p:nvPr/>
        </p:nvSpPr>
        <p:spPr>
          <a:xfrm>
            <a:off x="1371600" y="2468880"/>
            <a:ext cx="6400800" cy="18288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0"/>
          <p:cNvSpPr/>
          <p:nvPr/>
        </p:nvSpPr>
        <p:spPr>
          <a:xfrm>
            <a:off x="1554480" y="2542032"/>
            <a:ext cx="6035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D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8D9"/>
                </a:solidFill>
                <a:latin typeface="Calibri"/>
                <a:ea typeface="Calibri"/>
                <a:cs typeface="Calibri"/>
                <a:sym typeface="Calibri"/>
              </a:rPr>
              <a:t>Before Next Meeting: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0"/>
          <p:cNvSpPr/>
          <p:nvPr/>
        </p:nvSpPr>
        <p:spPr>
          <a:xfrm>
            <a:off x="1554480" y="3042796"/>
            <a:ext cx="5852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T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ry</a:t>
            </a: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olve 3 practice problems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from any website (leetcode, codeforces), and </a:t>
            </a: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submit in Java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0"/>
          <p:cNvSpPr/>
          <p:nvPr/>
        </p:nvSpPr>
        <p:spPr>
          <a:xfrm>
            <a:off x="1554480" y="3629442"/>
            <a:ext cx="5852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Check: usaco.guide/silver/graph-traversal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0"/>
          <p:cNvSpPr/>
          <p:nvPr/>
        </p:nvSpPr>
        <p:spPr>
          <a:xfrm>
            <a:off x="457200" y="448056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See you at the next meeting.  Let's build.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